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describes work that was actually performed on local artifacts. The central finding is methodological: the pipeline supports exact matched-seed replay and controlled feature scaling. It does not establish that racial bias or image quality improved. The portrait study uses the existing pretrained SAE so old feature IDs retain their reference. A separate small SAE training pilot is included only in the appendix. All race and gender labels refer to generation prompts, not inferred identities.</a:t>
            </a:r>
          </a:p>
          <a:p/>
          <a:p>
            <a:r>
              <a:t>Local evidence: FINDINGS.md; sae_bias_experiment.py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distinguish association, intervention, and fairness evaluation. Association measures whether SAE activations vary with generation-prompt categories. The intervention tests what changes when a specific internal feature contribution is multiplied while holding the prompt and random seed fixed. A fairness claim additionally requires a predefined unwanted outcome, annotations, and a comparison of outcome rates across groups. The current run completes the first two stages for selected features; it has not completed the third.</a:t>
            </a:r>
          </a:p>
          <a:p/>
          <a:p>
            <a:r>
              <a:t>Local evidence: FINDINGS.md; sae_bias_experiment.py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has 50 images per race/gender category, for 600 PNGs total. The separate cached feature file also contains 600 samples, each represented by 5,120 spatial-max-pooled pretrained SAE activations. It uses randomly sampled seeds from its own generation script. That file is used for feature discovery and held-out association reporting; baseline seeds 40, 41, and 42 are used for visual interventions. The cached codes are not the raw 1,280-channel residual inputs needed to train a new SAE. The cached file does not store per-row seed metadata.</a:t>
            </a:r>
          </a:p>
          <a:p/>
          <a:p>
            <a:r>
              <a:t>Local evidence: baseline/images/; race_classifier/race_classify_features.npz; race_classifier/generate_data.py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provides the category coverage, not an assessment of the depicted people’s identities. Rows correspond to man and woman prompts. Columns follow the six requested race labels. The template fixes expression, shirt color, background, and a request for no facial coverings. The original phrase does not explicitly exclude a headscarf that leaves the face visible. This distinction matters when interpreting the Middle Eastern woman example. We replay this exact template rather than changing it during the intervention experiment.</a:t>
            </a:r>
          </a:p>
          <a:p/>
          <a:p>
            <a:r>
              <a:t>Local evidence: baseline/images/*/baseline40.png; baseline/baseline-image-generation.ipynb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analysis taps unet.down_blocks.2.attentions.1. For every spatial position, the training representation is the attention block output minus its input, with 1,280 channels. The existing SAE expands this into a 5,120-dimensional feature dictionary using Top-K encoding with k=10 and ReLU. Each decoder column is a learned residual direction. The pretrained checkpoint also has an auxiliary-k setting of 256 in its configuration. We do not retrain this checkpoint in the portrait audit. This preserves feature IDs from the previous notebooks.</a:t>
            </a:r>
          </a:p>
          <a:p/>
          <a:p>
            <a:r>
              <a:t>Local evidence: sdxl-unbox/SAE/sae.py; pretrained down.2.1 final/config.json; sae_bias_experiment.py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r be the original residual and r-hat its SAE reconstruction. The residual reconstruction error is e = r minus r-hat. Scaling feature f from z-f to s times z-f changes the reconstruction by (s minus 1) times z-f times decoder direction d-f. Adding this delta directly to the original block output preserves e. This prevents generic SAE reconstruction artifacts from being mixed into every intervention. Strength one is therefore a mathematical no-op. Inactive features remain inactive under multiplicative editing; this procedure is not an additive feature injection.</a:t>
            </a:r>
          </a:p>
          <a:p/>
          <a:p>
            <a:r>
              <a:t>Local evidence: sdxl-unbox/scripts/sae_experiment.py: intervention; sae_bias_experiment.py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race/gender cell, an RNG with seed zero produces a 40/10 discovery/held-out split. For a given race and feature, we calculate the difference between that race’s discovery mean and the mean of other races within each gender. We divide by the feature’s standard deviation across all discovery samples, clipped at 1e-6 for numerical stability, and average the two gender contrasts equally. Candidate 3530 is the strongest additional gender-sign-consistent discovery association. Features 138 and 527 were included because of prior analyses. Held-out effects do not select the candidate. This is exploratory; no multiple-testing-adjusted significance is reported.</a:t>
            </a:r>
          </a:p>
          <a:p/>
          <a:p>
            <a:r>
              <a:t>Local evidence: sae_bias_experiment.py: analyze; feature_associations.csv; cached_data_split.npz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shows the strongest discovery association for each requested race label and its corresponding held-out contrast. The numerical values are standardized effect contrasts, not classification accuracy or bias scores. All six displayed features have a positive association with their own prompt label in both splits. Only 527 and 3530 from this list were intervened on; feature 138 is an additional previously studied candidate. The other four top features remain association findings. The same prompt template appears in discovery and held-out data, so this does not demonstrate transfer to new prompt formulations.</a:t>
            </a:r>
          </a:p>
          <a:p/>
          <a:p>
            <a:r>
              <a:t>Local evidence: feature_associations.csv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 includes 12 categories, three seeds, three features, and four strengths, yielding 432 edited images. The three features are 138, 527, and 3530. Replay uses the original fp16 VAE, Euler ancestral scheduler with trailing timesteps, one denoising step, guidance scale zero, and separately seeded latent and scheduler random streams. The original baseline and the new replay matched exactly for all 36 cases. Every strength-one image was also pixel-identical to its replay. This validates reproducibility and the no-op control, but does not measure fairness or quality. The current run generated 36 category/feature grids.</a:t>
            </a:r>
          </a:p>
          <a:p/>
          <a:p>
            <a:r>
              <a:t>Local evidence: settings.json; intervention_metrics.csv; sae_bias_experiment.py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side-by-side images show two seeds from the Middle Eastern woman prompt category. Seed 40 contains a visible headscarf; removing feature 138’s contribution does not remove it. Seed 41 has visible uncovered hair, and the feature is active there as well. Scaling produces changes in face and hair detail, which agrees with the earlier notebook’s plain-hair confound. Heatmap intensity is normalized independently per image, so colors do not support cross-image magnitude comparisons. The original prompt prohibits facial coverings, not all head coverings; this example is not by itself an established prompt violation.</a:t>
            </a:r>
          </a:p>
          <a:p/>
          <a:p>
            <a:r>
              <a:t>Local evidence: middle_eastern_woman/feature138_comparison.png; individual seed PNGs; intervention_metrics.csv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3530 was selected as the strongest additional gender-sign-consistent discovery association after including 138 and 527. Its held-out standardized contrast for the Middle Eastern prompt label is 2.65. Despite that association, the intervention at strength zero leaves the scarf in seed 40. The visible changes are smaller and involve facial or local detail in these examples. This separates prompt association from control of a specific attribute. It does not imply the feature lacks effects under other prompts, strengths, blocks, or denoising steps; those were not tested here.</a:t>
            </a:r>
          </a:p>
          <a:p/>
          <a:p>
            <a:r>
              <a:t>Local evidence: middle_eastern_woman/feature3530_comparison.png; individual seed PNGs; intervention_metrics.csv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examples use the Black man prompt category. Feature 527 has a strong discovery and held-out association with the Black prompt label. Reducing or amplifying its contribution changes face texture and contrast. In seed 42, amplification also produces visible differences in composition and facial detail. These visual observations do not establish a semantic feature label or a quality preference. Suppressing a group-associated feature can alter a requested depiction without improving fairness. No identity inference or race classifier is applied to the edited images in this experiment.</a:t>
            </a:r>
          </a:p>
          <a:p/>
          <a:p>
            <a:r>
              <a:t>Local evidence: black_man/feature527_comparison.png; individual seed PNGs; intervention_metrics.csv</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aggregates the recorded mean absolute pixel differences between original and edited PNGs at strength zero. Each cell averages six images, two genders times three seeds. Values are on an 8-bit RGB scale from zero to 255. This quantifies whether an intervention has an effect and how large its image-level change is, not whether it improves quality or fairness. Feature 138 and 3530 are inactive in several tested categories, giving zero changes. Feature 527 also changes some Hispanic, Indian, and Middle Eastern samples. Results are descriptive with a small sample and no uncertainty intervals.</a:t>
            </a:r>
          </a:p>
          <a:p/>
          <a:p>
            <a:r>
              <a:t>Local evidence: intervention_metrics.csv; test_activation_metrics.csv</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experiments support exact baseline replay, correct multiplicative editing, associations that recur in a held-out cached split, and qualitative changes from selected feature interventions. They do not establish semantic race features, headscarf-specific control, mitigation of racial bias, improvement in image quality, or generalization beyond the current prompt template. An older classifier achieved perfect held-out classification on its own split, but this is prompt-group decodability, not a fairness score, and no classifier was applied to edited images in the present run. The distinction should be central to the research narrative.</a:t>
            </a:r>
          </a:p>
          <a:p/>
          <a:p>
            <a:r>
              <a:t>Local evidence: FINDINGS.md; sae_bias_experiment.py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intervention sample has only three seeds per category and uses one template, one block, and one denoising step. Candidate selection is partly informed by older analyses, so the held-out cached split is exploratory rather than a pristine confirmatory test. The spatial-max feature representation can emphasize a single location and does not directly locate a semantic concept. The intervention is restricted to features that already activate. Human reviews remain blank, and no inter-rater agreement, confidence intervals, or downstream quality measures have been computed. Overlay maps are normalized independently and should not be used for magnitude comparisons.</a:t>
            </a:r>
          </a:p>
          <a:p/>
          <a:p>
            <a:r>
              <a:t>Local evidence: FINDINGS.md; sae_bias_experiment.py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proposes future work, not completed results. For a head-covering target, use a common explicit no-head-covering instruction for every category, along with a paired prompt variant. Reserve common seeds across all categories for final evaluation before candidate selection. Collect residual vectors from multiple blocks and compare matched activation changes, then evaluate feature interventions on those untouched seeds. Annotate unwanted coverings, hair damage, clothing compliance, image artifacts, and image preference with blinded or randomized presentation. Report within-group outcome changes and between-group disparities with uncertainty. Prompt compliance and requested appearance should be assessed alongside the bias target.</a:t>
            </a:r>
          </a:p>
          <a:p/>
          <a:p>
            <a:r>
              <a:t>Local evidence: FINDINGS.md; sae_bias_experiment.py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bias experiment script has an analysis-only mode and a complete replay mode. Outputs include the dataset split, candidate associations, test activation metrics, intervention pixel changes, per-image raw maps, individual PNGs, 36 grids, and a markdown report. The annotation sheet has 432 rows, one per intervention, with blank fields for outcomes and preference; those blanks must not be mistaken for results. Existing notebooks and baseline images were preserved. The separate generic SAE training script remains available but its prompt split is not suitable as a balanced portrait audit without adaptation.</a:t>
            </a:r>
          </a:p>
          <a:p/>
          <a:p>
            <a:r>
              <a:t>Local evidence: sdxl-unbox/scripts/sae_bias_experiment.py; SAE_BIAS_EXPERIMENT.md; output REPORT.md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portrait scope was clarified, a separate Top-K SAE was trained on ten varied prompts with four seeds per prompt, with two additional prompts held out. The actual dataset has 10,240 training vectors and 2,048 validation vectors; the selected block has 256 spatial positions per image, below the collection cap of 512. The new dictionary has 5,120 features and k=20 and was trained for 500 Adam steps at learning rate 1e-4. Held-out normalized MSE fell from 1.221 to 0.976, near a held-out-mean prediction baseline. 86.6 percent of features were unused on that validation sample, not globally dead. This pilot demonstrates trainability, not adequate feature quality, and its IDs do not transfer to the pretrained dictionary.</a:t>
            </a:r>
          </a:p>
          <a:p/>
          <a:p>
            <a:r>
              <a:t>Local evidence: baseline/sae_experiment_20261009/RESULTS.md; training_metrics.json; sae_experiment.py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old race-prevalence notebook sums active spatial positions for each feature and divides by the number of generated images. Its comment calls the result a fraction of positions, but the value is the mean number of active positions per image. A true spatial active fraction divides by the total number of positions, or averages a per-image fraction when shapes are constant. The new cached-data association uses spatial maxima because that is what the existing feature file contains, and labels it accordingly. The new replay metrics calculate spatial means, maxima, and actual active fractions. No historical JSON, CSV, or notebook output was overwritten.</a:t>
            </a:r>
          </a:p>
          <a:p/>
          <a:p>
            <a:r>
              <a:t>Local evidence: baseline/sae_race_feature_analysis.ipynb; existing_feature_138_527.csv; test_activation_metrics.csv</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slides are grounded in local output files, rather than paper claims or external benchmarks. The pretrained checkpoint config lists 1,280 input dimensions, 5,120 features, k=10, auxk=256, and a dead-steps threshold of 2,441. The run uses cached SDXL Turbo and the fp16-fixed VAE, a single GPU, one 512-square denoising step, and the settings shown here. The working Python environment was isolated with -I to avoid a broken user-level torch import. Model startup initially waited on filesystem reads; after loading, generation and intervention checks completed. These environment details explain execution but are not research results.</a:t>
            </a:r>
          </a:p>
          <a:p/>
          <a:p>
            <a:r>
              <a:t>Local evidence: FINDINGS.md; settings.json; intervention_metrics.csv; pretrained final/config.json; build_sae_presentation.py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RESEARCH BRIEFING</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Sparse autoencoders for a racial-bias audit</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Controlled interventions on an existing SDXL Turbo portrait baseline</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01</a:t>
            </a:r>
          </a:p>
        </p:txBody>
      </p:sp>
      <p:sp>
        <p:nvSpPr>
          <p:cNvPr id="9" name="TextBox 8"/>
          <p:cNvSpPr txBox="1"/>
          <p:nvPr/>
        </p:nvSpPr>
        <p:spPr>
          <a:xfrm>
            <a:off x="731520" y="2423160"/>
            <a:ext cx="10698480" cy="1554480"/>
          </a:xfrm>
          <a:prstGeom prst="rect">
            <a:avLst/>
          </a:prstGeom>
          <a:noFill/>
        </p:spPr>
        <p:txBody>
          <a:bodyPr wrap="square" lIns="18288" rIns="18288" tIns="9144" bIns="9144">
            <a:spAutoFit/>
          </a:bodyPr>
          <a:lstStyle/>
          <a:p>
            <a:pPr>
              <a:spcAft>
                <a:spcPts val="800"/>
              </a:spcAft>
              <a:defRPr sz="3000" b="1">
                <a:solidFill>
                  <a:srgbClr val="152B42"/>
                </a:solidFill>
                <a:latin typeface="DejaVu Sans"/>
              </a:defRPr>
            </a:pPr>
            <a:r>
              <a:t>Interpretable controls are working.</a:t>
            </a:r>
          </a:p>
          <a:p>
            <a:pPr>
              <a:spcAft>
                <a:spcPts val="800"/>
              </a:spcAft>
              <a:defRPr sz="3000" b="1">
                <a:solidFill>
                  <a:srgbClr val="152B42"/>
                </a:solidFill>
                <a:latin typeface="DejaVu Sans"/>
              </a:defRPr>
            </a:pPr>
            <a:r>
              <a:t>Bias reduction is still an open question.</a:t>
            </a:r>
          </a:p>
        </p:txBody>
      </p:sp>
      <p:sp>
        <p:nvSpPr>
          <p:cNvPr id="10" name="Rectangle 9"/>
          <p:cNvSpPr/>
          <p:nvPr/>
        </p:nvSpPr>
        <p:spPr>
          <a:xfrm>
            <a:off x="731520" y="4434840"/>
            <a:ext cx="3337560" cy="1234440"/>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590288"/>
            <a:ext cx="2926080" cy="530352"/>
          </a:xfrm>
          <a:prstGeom prst="rect">
            <a:avLst/>
          </a:prstGeom>
          <a:noFill/>
        </p:spPr>
        <p:txBody>
          <a:bodyPr wrap="square" lIns="18288" rIns="18288" tIns="9144" bIns="9144">
            <a:spAutoFit/>
          </a:bodyPr>
          <a:lstStyle/>
          <a:p>
            <a:pPr>
              <a:spcAft>
                <a:spcPts val="800"/>
              </a:spcAft>
              <a:defRPr sz="3000" b="1">
                <a:solidFill>
                  <a:srgbClr val="087E8B"/>
                </a:solidFill>
                <a:latin typeface="DejaVu Sans"/>
              </a:defRPr>
            </a:pPr>
            <a:r>
              <a:t>600</a:t>
            </a:r>
          </a:p>
        </p:txBody>
      </p:sp>
      <p:sp>
        <p:nvSpPr>
          <p:cNvPr id="12" name="TextBox 11"/>
          <p:cNvSpPr txBox="1"/>
          <p:nvPr/>
        </p:nvSpPr>
        <p:spPr>
          <a:xfrm>
            <a:off x="896112" y="5230368"/>
            <a:ext cx="2971800" cy="347472"/>
          </a:xfrm>
          <a:prstGeom prst="rect">
            <a:avLst/>
          </a:prstGeom>
          <a:noFill/>
        </p:spPr>
        <p:txBody>
          <a:bodyPr wrap="square" lIns="18288" rIns="18288" tIns="9144" bIns="9144">
            <a:spAutoFit/>
          </a:bodyPr>
          <a:lstStyle/>
          <a:p>
            <a:pPr>
              <a:spcAft>
                <a:spcPts val="800"/>
              </a:spcAft>
              <a:defRPr sz="1200" b="0">
                <a:solidFill>
                  <a:srgbClr val="59697A"/>
                </a:solidFill>
                <a:latin typeface="DejaVu Sans"/>
              </a:defRPr>
            </a:pPr>
            <a:r>
              <a:t>existing baseline portraits</a:t>
            </a:r>
          </a:p>
        </p:txBody>
      </p:sp>
      <p:sp>
        <p:nvSpPr>
          <p:cNvPr id="13" name="Rectangle 12"/>
          <p:cNvSpPr/>
          <p:nvPr/>
        </p:nvSpPr>
        <p:spPr>
          <a:xfrm>
            <a:off x="4434840" y="4434840"/>
            <a:ext cx="3337560" cy="1234440"/>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1" y="4590288"/>
            <a:ext cx="2926080" cy="530352"/>
          </a:xfrm>
          <a:prstGeom prst="rect">
            <a:avLst/>
          </a:prstGeom>
          <a:noFill/>
        </p:spPr>
        <p:txBody>
          <a:bodyPr wrap="square" lIns="18288" rIns="18288" tIns="9144" bIns="9144">
            <a:spAutoFit/>
          </a:bodyPr>
          <a:lstStyle/>
          <a:p>
            <a:pPr>
              <a:spcAft>
                <a:spcPts val="800"/>
              </a:spcAft>
              <a:defRPr sz="3000" b="1">
                <a:solidFill>
                  <a:srgbClr val="087E8B"/>
                </a:solidFill>
                <a:latin typeface="DejaVu Sans"/>
              </a:defRPr>
            </a:pPr>
            <a:r>
              <a:t>432</a:t>
            </a:r>
          </a:p>
        </p:txBody>
      </p:sp>
      <p:sp>
        <p:nvSpPr>
          <p:cNvPr id="15" name="TextBox 14"/>
          <p:cNvSpPr txBox="1"/>
          <p:nvPr/>
        </p:nvSpPr>
        <p:spPr>
          <a:xfrm>
            <a:off x="4599431" y="5230368"/>
            <a:ext cx="2971800" cy="347472"/>
          </a:xfrm>
          <a:prstGeom prst="rect">
            <a:avLst/>
          </a:prstGeom>
          <a:noFill/>
        </p:spPr>
        <p:txBody>
          <a:bodyPr wrap="square" lIns="18288" rIns="18288" tIns="9144" bIns="9144">
            <a:spAutoFit/>
          </a:bodyPr>
          <a:lstStyle/>
          <a:p>
            <a:pPr>
              <a:spcAft>
                <a:spcPts val="800"/>
              </a:spcAft>
              <a:defRPr sz="1200" b="0">
                <a:solidFill>
                  <a:srgbClr val="59697A"/>
                </a:solidFill>
                <a:latin typeface="DejaVu Sans"/>
              </a:defRPr>
            </a:pPr>
            <a:r>
              <a:t>controlled feature edits</a:t>
            </a:r>
          </a:p>
        </p:txBody>
      </p:sp>
      <p:sp>
        <p:nvSpPr>
          <p:cNvPr id="16" name="Rectangle 15"/>
          <p:cNvSpPr/>
          <p:nvPr/>
        </p:nvSpPr>
        <p:spPr>
          <a:xfrm>
            <a:off x="8138160" y="4434840"/>
            <a:ext cx="3337560" cy="1234440"/>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4590288"/>
            <a:ext cx="2926080" cy="530352"/>
          </a:xfrm>
          <a:prstGeom prst="rect">
            <a:avLst/>
          </a:prstGeom>
          <a:noFill/>
        </p:spPr>
        <p:txBody>
          <a:bodyPr wrap="square" lIns="18288" rIns="18288" tIns="9144" bIns="9144">
            <a:spAutoFit/>
          </a:bodyPr>
          <a:lstStyle/>
          <a:p>
            <a:pPr>
              <a:spcAft>
                <a:spcPts val="800"/>
              </a:spcAft>
              <a:defRPr sz="3000" b="1">
                <a:solidFill>
                  <a:srgbClr val="087E8B"/>
                </a:solidFill>
                <a:latin typeface="DejaVu Sans"/>
              </a:defRPr>
            </a:pPr>
            <a:r>
              <a:t>0</a:t>
            </a:r>
          </a:p>
        </p:txBody>
      </p:sp>
      <p:sp>
        <p:nvSpPr>
          <p:cNvPr id="18" name="TextBox 17"/>
          <p:cNvSpPr txBox="1"/>
          <p:nvPr/>
        </p:nvSpPr>
        <p:spPr>
          <a:xfrm>
            <a:off x="8302752" y="5230368"/>
            <a:ext cx="2971800" cy="347472"/>
          </a:xfrm>
          <a:prstGeom prst="rect">
            <a:avLst/>
          </a:prstGeom>
          <a:noFill/>
        </p:spPr>
        <p:txBody>
          <a:bodyPr wrap="square" lIns="18288" rIns="18288" tIns="9144" bIns="9144">
            <a:spAutoFit/>
          </a:bodyPr>
          <a:lstStyle/>
          <a:p>
            <a:pPr>
              <a:spcAft>
                <a:spcPts val="800"/>
              </a:spcAft>
              <a:defRPr sz="1200" b="0">
                <a:solidFill>
                  <a:srgbClr val="59697A"/>
                </a:solidFill>
                <a:latin typeface="DejaVu Sans"/>
              </a:defRPr>
            </a:pPr>
            <a:r>
              <a:t>pixel error in replay / no-op checks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RESEARCH QUESTION</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Three questions require different evidence</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A feature can distinguish prompt groups without controlling an unwanted attribute.</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02</a:t>
            </a:r>
          </a:p>
        </p:txBody>
      </p:sp>
      <p:sp>
        <p:nvSpPr>
          <p:cNvPr id="9" name="Rectangle 8"/>
          <p:cNvSpPr/>
          <p:nvPr/>
        </p:nvSpPr>
        <p:spPr>
          <a:xfrm>
            <a:off x="731520" y="2377440"/>
            <a:ext cx="3520440" cy="315468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377440"/>
            <a:ext cx="41148" cy="315468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523744"/>
            <a:ext cx="315468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1 · Association</a:t>
            </a:r>
          </a:p>
        </p:txBody>
      </p:sp>
      <p:sp>
        <p:nvSpPr>
          <p:cNvPr id="12" name="TextBox 11"/>
          <p:cNvSpPr txBox="1"/>
          <p:nvPr/>
        </p:nvSpPr>
        <p:spPr>
          <a:xfrm>
            <a:off x="914400" y="3255264"/>
            <a:ext cx="3154680" cy="219456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Do feature activations differ across the six prompt groups?</a:t>
            </a:r>
          </a:p>
          <a:p>
            <a:pPr>
              <a:spcAft>
                <a:spcPts val="800"/>
              </a:spcAft>
              <a:defRPr sz="1700" b="0">
                <a:solidFill>
                  <a:srgbClr val="152B42"/>
                </a:solidFill>
                <a:latin typeface="DejaVu Sans"/>
              </a:defRPr>
            </a:pPr>
            <a:r>
              <a:t>Measured on cached SAE vectors.</a:t>
            </a:r>
          </a:p>
        </p:txBody>
      </p:sp>
      <p:sp>
        <p:nvSpPr>
          <p:cNvPr id="13" name="Rectangle 12"/>
          <p:cNvSpPr/>
          <p:nvPr/>
        </p:nvSpPr>
        <p:spPr>
          <a:xfrm>
            <a:off x="4343400" y="2377440"/>
            <a:ext cx="3520440" cy="315468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2377440"/>
            <a:ext cx="41148" cy="315468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523744"/>
            <a:ext cx="315468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2 · Intervention</a:t>
            </a:r>
          </a:p>
        </p:txBody>
      </p:sp>
      <p:sp>
        <p:nvSpPr>
          <p:cNvPr id="16" name="TextBox 15"/>
          <p:cNvSpPr txBox="1"/>
          <p:nvPr/>
        </p:nvSpPr>
        <p:spPr>
          <a:xfrm>
            <a:off x="4526280" y="3255264"/>
            <a:ext cx="3154680" cy="219456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What changes when one feature is suppressed or amplified?</a:t>
            </a:r>
          </a:p>
          <a:p>
            <a:pPr>
              <a:spcAft>
                <a:spcPts val="800"/>
              </a:spcAft>
              <a:defRPr sz="1700" b="0">
                <a:solidFill>
                  <a:srgbClr val="152B42"/>
                </a:solidFill>
                <a:latin typeface="DejaVu Sans"/>
              </a:defRPr>
            </a:pPr>
            <a:r>
              <a:t>Tested with fixed seeds.</a:t>
            </a:r>
          </a:p>
        </p:txBody>
      </p:sp>
      <p:sp>
        <p:nvSpPr>
          <p:cNvPr id="17" name="Rectangle 16"/>
          <p:cNvSpPr/>
          <p:nvPr/>
        </p:nvSpPr>
        <p:spPr>
          <a:xfrm>
            <a:off x="7955279" y="2377440"/>
            <a:ext cx="3520440" cy="315468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55279" y="2377440"/>
            <a:ext cx="41148" cy="3154680"/>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59" y="2523744"/>
            <a:ext cx="3154680" cy="594360"/>
          </a:xfrm>
          <a:prstGeom prst="rect">
            <a:avLst/>
          </a:prstGeom>
          <a:noFill/>
        </p:spPr>
        <p:txBody>
          <a:bodyPr wrap="square" lIns="18288" rIns="18288" tIns="9144" bIns="9144">
            <a:spAutoFit/>
          </a:bodyPr>
          <a:lstStyle/>
          <a:p>
            <a:pPr>
              <a:spcAft>
                <a:spcPts val="800"/>
              </a:spcAft>
              <a:defRPr sz="1900" b="1">
                <a:solidFill>
                  <a:srgbClr val="D97936"/>
                </a:solidFill>
                <a:latin typeface="DejaVu Sans"/>
              </a:defRPr>
            </a:pPr>
            <a:r>
              <a:t>3 · Bias outcome</a:t>
            </a:r>
          </a:p>
        </p:txBody>
      </p:sp>
      <p:sp>
        <p:nvSpPr>
          <p:cNvPr id="20" name="TextBox 19"/>
          <p:cNvSpPr txBox="1"/>
          <p:nvPr/>
        </p:nvSpPr>
        <p:spPr>
          <a:xfrm>
            <a:off x="8138159" y="3255264"/>
            <a:ext cx="3154680" cy="219456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Does an unwanted outcome decrease without collateral damage?</a:t>
            </a:r>
          </a:p>
          <a:p>
            <a:pPr>
              <a:spcAft>
                <a:spcPts val="800"/>
              </a:spcAft>
              <a:defRPr sz="1700" b="0">
                <a:solidFill>
                  <a:srgbClr val="152B42"/>
                </a:solidFill>
                <a:latin typeface="DejaVu Sans"/>
              </a:defRPr>
            </a:pPr>
            <a:r>
              <a:t>Not yet measured.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DATA</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Two existing datasets, two distinct roles</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The cached SAE vectors and the saved portrait PNGs are separate artifacts.</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03</a:t>
            </a:r>
          </a:p>
        </p:txBody>
      </p:sp>
      <p:sp>
        <p:nvSpPr>
          <p:cNvPr id="9" name="Rectangle 8"/>
          <p:cNvSpPr/>
          <p:nvPr/>
        </p:nvSpPr>
        <p:spPr>
          <a:xfrm>
            <a:off x="731520" y="2331720"/>
            <a:ext cx="5230368" cy="315468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331720"/>
            <a:ext cx="41148" cy="315468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78024"/>
            <a:ext cx="4864607"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Baseline images</a:t>
            </a:r>
          </a:p>
        </p:txBody>
      </p:sp>
      <p:sp>
        <p:nvSpPr>
          <p:cNvPr id="12" name="TextBox 11"/>
          <p:cNvSpPr txBox="1"/>
          <p:nvPr/>
        </p:nvSpPr>
        <p:spPr>
          <a:xfrm>
            <a:off x="914400" y="3209544"/>
            <a:ext cx="4864607" cy="219456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6 prompt races × 2 genders × 50 seeds</a:t>
            </a:r>
          </a:p>
          <a:p>
            <a:pPr>
              <a:spcAft>
                <a:spcPts val="800"/>
              </a:spcAft>
              <a:defRPr sz="1700" b="0">
                <a:solidFill>
                  <a:srgbClr val="152B42"/>
                </a:solidFill>
                <a:latin typeface="DejaVu Sans"/>
              </a:defRPr>
            </a:pPr>
            <a:r>
              <a:t>600 saved portraits</a:t>
            </a:r>
          </a:p>
          <a:p>
            <a:pPr>
              <a:spcAft>
                <a:spcPts val="800"/>
              </a:spcAft>
              <a:defRPr sz="1700" b="0">
                <a:solidFill>
                  <a:srgbClr val="152B42"/>
                </a:solidFill>
                <a:latin typeface="DejaVu Sans"/>
              </a:defRPr>
            </a:pPr>
            <a:r>
              <a:t>Replay sample: seeds 40, 41, 42</a:t>
            </a:r>
          </a:p>
          <a:p>
            <a:pPr>
              <a:spcAft>
                <a:spcPts val="800"/>
              </a:spcAft>
              <a:defRPr sz="1700" b="0">
                <a:solidFill>
                  <a:srgbClr val="152B42"/>
                </a:solidFill>
                <a:latin typeface="DejaVu Sans"/>
              </a:defRPr>
            </a:pPr>
            <a:r>
              <a:t>36 matched baseline images</a:t>
            </a:r>
          </a:p>
        </p:txBody>
      </p:sp>
      <p:sp>
        <p:nvSpPr>
          <p:cNvPr id="13" name="Rectangle 12"/>
          <p:cNvSpPr/>
          <p:nvPr/>
        </p:nvSpPr>
        <p:spPr>
          <a:xfrm>
            <a:off x="6144768" y="2331720"/>
            <a:ext cx="5230368" cy="315468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44768" y="2331720"/>
            <a:ext cx="41148" cy="315468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8" y="2478024"/>
            <a:ext cx="4864607"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Cached feature vectors</a:t>
            </a:r>
          </a:p>
        </p:txBody>
      </p:sp>
      <p:sp>
        <p:nvSpPr>
          <p:cNvPr id="16" name="TextBox 15"/>
          <p:cNvSpPr txBox="1"/>
          <p:nvPr/>
        </p:nvSpPr>
        <p:spPr>
          <a:xfrm>
            <a:off x="6327648" y="3209544"/>
            <a:ext cx="4864607" cy="219456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600 images × 5,120 SAE dimensions</a:t>
            </a:r>
          </a:p>
          <a:p>
            <a:pPr>
              <a:spcAft>
                <a:spcPts val="800"/>
              </a:spcAft>
              <a:defRPr sz="1700" b="0">
                <a:solidFill>
                  <a:srgbClr val="152B42"/>
                </a:solidFill>
                <a:latin typeface="DejaVu Sans"/>
              </a:defRPr>
            </a:pPr>
            <a:r>
              <a:t>Spatial maximum over each feature map</a:t>
            </a:r>
          </a:p>
          <a:p>
            <a:pPr>
              <a:spcAft>
                <a:spcPts val="800"/>
              </a:spcAft>
              <a:defRPr sz="1700" b="0">
                <a:solidFill>
                  <a:srgbClr val="152B42"/>
                </a:solidFill>
                <a:latin typeface="DejaVu Sans"/>
              </a:defRPr>
            </a:pPr>
            <a:r>
              <a:t>480 discovery / 120 held-out samples</a:t>
            </a:r>
          </a:p>
          <a:p>
            <a:pPr>
              <a:spcAft>
                <a:spcPts val="800"/>
              </a:spcAft>
              <a:defRPr sz="1700" b="0">
                <a:solidFill>
                  <a:srgbClr val="152B42"/>
                </a:solidFill>
                <a:latin typeface="DejaVu Sans"/>
              </a:defRPr>
            </a:pPr>
            <a:r>
              <a:t>40 / 10 samples in each category</a:t>
            </a:r>
          </a:p>
        </p:txBody>
      </p:sp>
      <p:sp>
        <p:nvSpPr>
          <p:cNvPr id="17" name="TextBox 16"/>
          <p:cNvSpPr txBox="1"/>
          <p:nvPr/>
        </p:nvSpPr>
        <p:spPr>
          <a:xfrm>
            <a:off x="822960" y="5806440"/>
            <a:ext cx="10515600" cy="365760"/>
          </a:xfrm>
          <a:prstGeom prst="rect">
            <a:avLst/>
          </a:prstGeom>
          <a:noFill/>
        </p:spPr>
        <p:txBody>
          <a:bodyPr wrap="square" lIns="18288" rIns="18288" tIns="9144" bIns="9144">
            <a:spAutoFit/>
          </a:bodyPr>
          <a:lstStyle/>
          <a:p>
            <a:pPr>
              <a:spcAft>
                <a:spcPts val="800"/>
              </a:spcAft>
              <a:defRPr sz="1550" b="1">
                <a:solidFill>
                  <a:srgbClr val="087E8B"/>
                </a:solidFill>
                <a:latin typeface="DejaVu Sans"/>
              </a:defRPr>
            </a:pPr>
            <a:r>
              <a:t>Labels are taken from generation prompts. No racial identity is inferred from image pixels.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BASELINE COVERAGE</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The baseline spans all 12 prompt categories</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Seed 40 shown in each cell; identical prompt template except for race and gender.</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04</a:t>
            </a:r>
          </a:p>
        </p:txBody>
      </p:sp>
      <p:sp>
        <p:nvSpPr>
          <p:cNvPr id="9" name="TextBox 8"/>
          <p:cNvSpPr txBox="1"/>
          <p:nvPr/>
        </p:nvSpPr>
        <p:spPr>
          <a:xfrm>
            <a:off x="749808" y="2148840"/>
            <a:ext cx="1783080" cy="36576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Black</a:t>
            </a:r>
          </a:p>
        </p:txBody>
      </p:sp>
      <p:pic>
        <p:nvPicPr>
          <p:cNvPr id="10" name="Picture 9" descr="baseline40.png"/>
          <p:cNvPicPr>
            <a:picLocks noChangeAspect="1"/>
          </p:cNvPicPr>
          <p:nvPr/>
        </p:nvPicPr>
        <p:blipFill>
          <a:blip r:embed="rId3"/>
          <a:stretch>
            <a:fillRect/>
          </a:stretch>
        </p:blipFill>
        <p:spPr>
          <a:xfrm>
            <a:off x="749808" y="2615184"/>
            <a:ext cx="1609344" cy="1609344"/>
          </a:xfrm>
          <a:prstGeom prst="rect">
            <a:avLst/>
          </a:prstGeom>
        </p:spPr>
      </p:pic>
      <p:sp>
        <p:nvSpPr>
          <p:cNvPr id="11" name="TextBox 10"/>
          <p:cNvSpPr txBox="1"/>
          <p:nvPr/>
        </p:nvSpPr>
        <p:spPr>
          <a:xfrm>
            <a:off x="749808" y="4242816"/>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man</a:t>
            </a:r>
          </a:p>
        </p:txBody>
      </p:sp>
      <p:pic>
        <p:nvPicPr>
          <p:cNvPr id="12" name="Picture 11" descr="baseline40.png"/>
          <p:cNvPicPr>
            <a:picLocks noChangeAspect="1"/>
          </p:cNvPicPr>
          <p:nvPr/>
        </p:nvPicPr>
        <p:blipFill>
          <a:blip r:embed="rId4"/>
          <a:stretch>
            <a:fillRect/>
          </a:stretch>
        </p:blipFill>
        <p:spPr>
          <a:xfrm>
            <a:off x="749808" y="4379976"/>
            <a:ext cx="1609344" cy="1609344"/>
          </a:xfrm>
          <a:prstGeom prst="rect">
            <a:avLst/>
          </a:prstGeom>
        </p:spPr>
      </p:pic>
      <p:sp>
        <p:nvSpPr>
          <p:cNvPr id="13" name="TextBox 12"/>
          <p:cNvSpPr txBox="1"/>
          <p:nvPr/>
        </p:nvSpPr>
        <p:spPr>
          <a:xfrm>
            <a:off x="749808" y="6007608"/>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woman</a:t>
            </a:r>
          </a:p>
        </p:txBody>
      </p:sp>
      <p:sp>
        <p:nvSpPr>
          <p:cNvPr id="14" name="TextBox 13"/>
          <p:cNvSpPr txBox="1"/>
          <p:nvPr/>
        </p:nvSpPr>
        <p:spPr>
          <a:xfrm>
            <a:off x="2642615" y="2148840"/>
            <a:ext cx="1783080" cy="36576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White</a:t>
            </a:r>
          </a:p>
        </p:txBody>
      </p:sp>
      <p:pic>
        <p:nvPicPr>
          <p:cNvPr id="15" name="Picture 14" descr="baseline40.png"/>
          <p:cNvPicPr>
            <a:picLocks noChangeAspect="1"/>
          </p:cNvPicPr>
          <p:nvPr/>
        </p:nvPicPr>
        <p:blipFill>
          <a:blip r:embed="rId5"/>
          <a:stretch>
            <a:fillRect/>
          </a:stretch>
        </p:blipFill>
        <p:spPr>
          <a:xfrm>
            <a:off x="2642615" y="2615184"/>
            <a:ext cx="1609344" cy="1609344"/>
          </a:xfrm>
          <a:prstGeom prst="rect">
            <a:avLst/>
          </a:prstGeom>
        </p:spPr>
      </p:pic>
      <p:sp>
        <p:nvSpPr>
          <p:cNvPr id="16" name="TextBox 15"/>
          <p:cNvSpPr txBox="1"/>
          <p:nvPr/>
        </p:nvSpPr>
        <p:spPr>
          <a:xfrm>
            <a:off x="2642615" y="4242816"/>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man</a:t>
            </a:r>
          </a:p>
        </p:txBody>
      </p:sp>
      <p:pic>
        <p:nvPicPr>
          <p:cNvPr id="17" name="Picture 16" descr="baseline40.png"/>
          <p:cNvPicPr>
            <a:picLocks noChangeAspect="1"/>
          </p:cNvPicPr>
          <p:nvPr/>
        </p:nvPicPr>
        <p:blipFill>
          <a:blip r:embed="rId6"/>
          <a:stretch>
            <a:fillRect/>
          </a:stretch>
        </p:blipFill>
        <p:spPr>
          <a:xfrm>
            <a:off x="2642615" y="4379976"/>
            <a:ext cx="1609344" cy="1609344"/>
          </a:xfrm>
          <a:prstGeom prst="rect">
            <a:avLst/>
          </a:prstGeom>
        </p:spPr>
      </p:pic>
      <p:sp>
        <p:nvSpPr>
          <p:cNvPr id="18" name="TextBox 17"/>
          <p:cNvSpPr txBox="1"/>
          <p:nvPr/>
        </p:nvSpPr>
        <p:spPr>
          <a:xfrm>
            <a:off x="2642615" y="6007608"/>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woman</a:t>
            </a:r>
          </a:p>
        </p:txBody>
      </p:sp>
      <p:sp>
        <p:nvSpPr>
          <p:cNvPr id="19" name="TextBox 18"/>
          <p:cNvSpPr txBox="1"/>
          <p:nvPr/>
        </p:nvSpPr>
        <p:spPr>
          <a:xfrm>
            <a:off x="4535424" y="2148840"/>
            <a:ext cx="1783080" cy="36576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East Asian</a:t>
            </a:r>
          </a:p>
        </p:txBody>
      </p:sp>
      <p:pic>
        <p:nvPicPr>
          <p:cNvPr id="20" name="Picture 19" descr="baseline40.png"/>
          <p:cNvPicPr>
            <a:picLocks noChangeAspect="1"/>
          </p:cNvPicPr>
          <p:nvPr/>
        </p:nvPicPr>
        <p:blipFill>
          <a:blip r:embed="rId7"/>
          <a:stretch>
            <a:fillRect/>
          </a:stretch>
        </p:blipFill>
        <p:spPr>
          <a:xfrm>
            <a:off x="4535424" y="2615184"/>
            <a:ext cx="1609344" cy="1609344"/>
          </a:xfrm>
          <a:prstGeom prst="rect">
            <a:avLst/>
          </a:prstGeom>
        </p:spPr>
      </p:pic>
      <p:sp>
        <p:nvSpPr>
          <p:cNvPr id="21" name="TextBox 20"/>
          <p:cNvSpPr txBox="1"/>
          <p:nvPr/>
        </p:nvSpPr>
        <p:spPr>
          <a:xfrm>
            <a:off x="4535424" y="4242816"/>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man</a:t>
            </a:r>
          </a:p>
        </p:txBody>
      </p:sp>
      <p:pic>
        <p:nvPicPr>
          <p:cNvPr id="22" name="Picture 21" descr="baseline40.png"/>
          <p:cNvPicPr>
            <a:picLocks noChangeAspect="1"/>
          </p:cNvPicPr>
          <p:nvPr/>
        </p:nvPicPr>
        <p:blipFill>
          <a:blip r:embed="rId8"/>
          <a:stretch>
            <a:fillRect/>
          </a:stretch>
        </p:blipFill>
        <p:spPr>
          <a:xfrm>
            <a:off x="4535424" y="4379976"/>
            <a:ext cx="1609344" cy="1609344"/>
          </a:xfrm>
          <a:prstGeom prst="rect">
            <a:avLst/>
          </a:prstGeom>
        </p:spPr>
      </p:pic>
      <p:sp>
        <p:nvSpPr>
          <p:cNvPr id="23" name="TextBox 22"/>
          <p:cNvSpPr txBox="1"/>
          <p:nvPr/>
        </p:nvSpPr>
        <p:spPr>
          <a:xfrm>
            <a:off x="4535424" y="6007608"/>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woman</a:t>
            </a:r>
          </a:p>
        </p:txBody>
      </p:sp>
      <p:sp>
        <p:nvSpPr>
          <p:cNvPr id="24" name="TextBox 23"/>
          <p:cNvSpPr txBox="1"/>
          <p:nvPr/>
        </p:nvSpPr>
        <p:spPr>
          <a:xfrm>
            <a:off x="6428231" y="2148840"/>
            <a:ext cx="1783080" cy="36576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Middle Eastern</a:t>
            </a:r>
          </a:p>
        </p:txBody>
      </p:sp>
      <p:pic>
        <p:nvPicPr>
          <p:cNvPr id="25" name="Picture 24" descr="baseline40.png"/>
          <p:cNvPicPr>
            <a:picLocks noChangeAspect="1"/>
          </p:cNvPicPr>
          <p:nvPr/>
        </p:nvPicPr>
        <p:blipFill>
          <a:blip r:embed="rId9"/>
          <a:stretch>
            <a:fillRect/>
          </a:stretch>
        </p:blipFill>
        <p:spPr>
          <a:xfrm>
            <a:off x="6428231" y="2615184"/>
            <a:ext cx="1609344" cy="1609344"/>
          </a:xfrm>
          <a:prstGeom prst="rect">
            <a:avLst/>
          </a:prstGeom>
        </p:spPr>
      </p:pic>
      <p:sp>
        <p:nvSpPr>
          <p:cNvPr id="26" name="TextBox 25"/>
          <p:cNvSpPr txBox="1"/>
          <p:nvPr/>
        </p:nvSpPr>
        <p:spPr>
          <a:xfrm>
            <a:off x="6428231" y="4242816"/>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man</a:t>
            </a:r>
          </a:p>
        </p:txBody>
      </p:sp>
      <p:pic>
        <p:nvPicPr>
          <p:cNvPr id="27" name="Picture 26" descr="baseline40.png"/>
          <p:cNvPicPr>
            <a:picLocks noChangeAspect="1"/>
          </p:cNvPicPr>
          <p:nvPr/>
        </p:nvPicPr>
        <p:blipFill>
          <a:blip r:embed="rId10"/>
          <a:stretch>
            <a:fillRect/>
          </a:stretch>
        </p:blipFill>
        <p:spPr>
          <a:xfrm>
            <a:off x="6428231" y="4379976"/>
            <a:ext cx="1609344" cy="1609344"/>
          </a:xfrm>
          <a:prstGeom prst="rect">
            <a:avLst/>
          </a:prstGeom>
        </p:spPr>
      </p:pic>
      <p:sp>
        <p:nvSpPr>
          <p:cNvPr id="28" name="TextBox 27"/>
          <p:cNvSpPr txBox="1"/>
          <p:nvPr/>
        </p:nvSpPr>
        <p:spPr>
          <a:xfrm>
            <a:off x="6428231" y="6007608"/>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woman</a:t>
            </a:r>
          </a:p>
        </p:txBody>
      </p:sp>
      <p:sp>
        <p:nvSpPr>
          <p:cNvPr id="29" name="TextBox 28"/>
          <p:cNvSpPr txBox="1"/>
          <p:nvPr/>
        </p:nvSpPr>
        <p:spPr>
          <a:xfrm>
            <a:off x="8321040" y="2148840"/>
            <a:ext cx="1783080" cy="36576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Indian</a:t>
            </a:r>
          </a:p>
        </p:txBody>
      </p:sp>
      <p:pic>
        <p:nvPicPr>
          <p:cNvPr id="30" name="Picture 29" descr="baseline40.png"/>
          <p:cNvPicPr>
            <a:picLocks noChangeAspect="1"/>
          </p:cNvPicPr>
          <p:nvPr/>
        </p:nvPicPr>
        <p:blipFill>
          <a:blip r:embed="rId11"/>
          <a:stretch>
            <a:fillRect/>
          </a:stretch>
        </p:blipFill>
        <p:spPr>
          <a:xfrm>
            <a:off x="8321040" y="2615184"/>
            <a:ext cx="1609344" cy="1609344"/>
          </a:xfrm>
          <a:prstGeom prst="rect">
            <a:avLst/>
          </a:prstGeom>
        </p:spPr>
      </p:pic>
      <p:sp>
        <p:nvSpPr>
          <p:cNvPr id="31" name="TextBox 30"/>
          <p:cNvSpPr txBox="1"/>
          <p:nvPr/>
        </p:nvSpPr>
        <p:spPr>
          <a:xfrm>
            <a:off x="8321040" y="4242816"/>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man</a:t>
            </a:r>
          </a:p>
        </p:txBody>
      </p:sp>
      <p:pic>
        <p:nvPicPr>
          <p:cNvPr id="32" name="Picture 31" descr="baseline40.png"/>
          <p:cNvPicPr>
            <a:picLocks noChangeAspect="1"/>
          </p:cNvPicPr>
          <p:nvPr/>
        </p:nvPicPr>
        <p:blipFill>
          <a:blip r:embed="rId12"/>
          <a:stretch>
            <a:fillRect/>
          </a:stretch>
        </p:blipFill>
        <p:spPr>
          <a:xfrm>
            <a:off x="8321040" y="4379976"/>
            <a:ext cx="1609344" cy="1609344"/>
          </a:xfrm>
          <a:prstGeom prst="rect">
            <a:avLst/>
          </a:prstGeom>
        </p:spPr>
      </p:pic>
      <p:sp>
        <p:nvSpPr>
          <p:cNvPr id="33" name="TextBox 32"/>
          <p:cNvSpPr txBox="1"/>
          <p:nvPr/>
        </p:nvSpPr>
        <p:spPr>
          <a:xfrm>
            <a:off x="8321040" y="6007608"/>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woman</a:t>
            </a:r>
          </a:p>
        </p:txBody>
      </p:sp>
      <p:sp>
        <p:nvSpPr>
          <p:cNvPr id="34" name="TextBox 33"/>
          <p:cNvSpPr txBox="1"/>
          <p:nvPr/>
        </p:nvSpPr>
        <p:spPr>
          <a:xfrm>
            <a:off x="10213848" y="2148840"/>
            <a:ext cx="1783080" cy="36576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Hispanic</a:t>
            </a:r>
          </a:p>
        </p:txBody>
      </p:sp>
      <p:pic>
        <p:nvPicPr>
          <p:cNvPr id="35" name="Picture 34" descr="baseline40.png"/>
          <p:cNvPicPr>
            <a:picLocks noChangeAspect="1"/>
          </p:cNvPicPr>
          <p:nvPr/>
        </p:nvPicPr>
        <p:blipFill>
          <a:blip r:embed="rId13"/>
          <a:stretch>
            <a:fillRect/>
          </a:stretch>
        </p:blipFill>
        <p:spPr>
          <a:xfrm>
            <a:off x="10213848" y="2615184"/>
            <a:ext cx="1609344" cy="1609344"/>
          </a:xfrm>
          <a:prstGeom prst="rect">
            <a:avLst/>
          </a:prstGeom>
        </p:spPr>
      </p:pic>
      <p:sp>
        <p:nvSpPr>
          <p:cNvPr id="36" name="TextBox 35"/>
          <p:cNvSpPr txBox="1"/>
          <p:nvPr/>
        </p:nvSpPr>
        <p:spPr>
          <a:xfrm>
            <a:off x="10213848" y="4242816"/>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man</a:t>
            </a:r>
          </a:p>
        </p:txBody>
      </p:sp>
      <p:pic>
        <p:nvPicPr>
          <p:cNvPr id="37" name="Picture 36" descr="baseline40.png"/>
          <p:cNvPicPr>
            <a:picLocks noChangeAspect="1"/>
          </p:cNvPicPr>
          <p:nvPr/>
        </p:nvPicPr>
        <p:blipFill>
          <a:blip r:embed="rId14"/>
          <a:stretch>
            <a:fillRect/>
          </a:stretch>
        </p:blipFill>
        <p:spPr>
          <a:xfrm>
            <a:off x="10213848" y="4379976"/>
            <a:ext cx="1609344" cy="1609344"/>
          </a:xfrm>
          <a:prstGeom prst="rect">
            <a:avLst/>
          </a:prstGeom>
        </p:spPr>
      </p:pic>
      <p:sp>
        <p:nvSpPr>
          <p:cNvPr id="38" name="TextBox 37"/>
          <p:cNvSpPr txBox="1"/>
          <p:nvPr/>
        </p:nvSpPr>
        <p:spPr>
          <a:xfrm>
            <a:off x="10213848" y="6007608"/>
            <a:ext cx="1645920" cy="219456"/>
          </a:xfrm>
          <a:prstGeom prst="rect">
            <a:avLst/>
          </a:prstGeom>
          <a:noFill/>
        </p:spPr>
        <p:txBody>
          <a:bodyPr wrap="square" lIns="18288" rIns="18288" tIns="9144" bIns="9144">
            <a:spAutoFit/>
          </a:bodyPr>
          <a:lstStyle/>
          <a:p>
            <a:pPr>
              <a:spcAft>
                <a:spcPts val="800"/>
              </a:spcAft>
              <a:defRPr sz="1000" b="0">
                <a:solidFill>
                  <a:srgbClr val="59697A"/>
                </a:solidFill>
                <a:latin typeface="DejaVu Sans"/>
              </a:defRPr>
            </a:pPr>
            <a:r>
              <a:t>woman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MODEL</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What the SAE represents</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A sparse dictionary of intermediate U-Net residual changes—not input noise or image latents.</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05</a:t>
            </a:r>
          </a:p>
        </p:txBody>
      </p:sp>
      <p:sp>
        <p:nvSpPr>
          <p:cNvPr id="9" name="Rectangle 8"/>
          <p:cNvSpPr/>
          <p:nvPr/>
        </p:nvSpPr>
        <p:spPr>
          <a:xfrm>
            <a:off x="777240" y="2560320"/>
            <a:ext cx="3154680" cy="24231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560320"/>
            <a:ext cx="41148" cy="242316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706624"/>
            <a:ext cx="278892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Block residual</a:t>
            </a:r>
          </a:p>
        </p:txBody>
      </p:sp>
      <p:sp>
        <p:nvSpPr>
          <p:cNvPr id="12" name="TextBox 11"/>
          <p:cNvSpPr txBox="1"/>
          <p:nvPr/>
        </p:nvSpPr>
        <p:spPr>
          <a:xfrm>
            <a:off x="960120" y="3438144"/>
            <a:ext cx="2788920" cy="1463039"/>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r = output − input</a:t>
            </a:r>
          </a:p>
          <a:p>
            <a:pPr>
              <a:spcAft>
                <a:spcPts val="800"/>
              </a:spcAft>
              <a:defRPr sz="1700" b="0">
                <a:solidFill>
                  <a:srgbClr val="152B42"/>
                </a:solidFill>
                <a:latin typeface="DejaVu Sans"/>
              </a:defRPr>
            </a:pPr>
            <a:r>
              <a:t>1,280 channels per position</a:t>
            </a:r>
          </a:p>
        </p:txBody>
      </p:sp>
      <p:sp>
        <p:nvSpPr>
          <p:cNvPr id="13" name="Rectangle 12"/>
          <p:cNvSpPr/>
          <p:nvPr/>
        </p:nvSpPr>
        <p:spPr>
          <a:xfrm>
            <a:off x="4572000" y="2560320"/>
            <a:ext cx="3154680" cy="24231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2560320"/>
            <a:ext cx="41148" cy="242316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2706624"/>
            <a:ext cx="278892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Sparse encoding</a:t>
            </a:r>
          </a:p>
        </p:txBody>
      </p:sp>
      <p:sp>
        <p:nvSpPr>
          <p:cNvPr id="16" name="TextBox 15"/>
          <p:cNvSpPr txBox="1"/>
          <p:nvPr/>
        </p:nvSpPr>
        <p:spPr>
          <a:xfrm>
            <a:off x="4754880" y="3438144"/>
            <a:ext cx="2788920" cy="1463039"/>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z = ReLU(TopK(Wₑ(r − b) + c))</a:t>
            </a:r>
          </a:p>
          <a:p>
            <a:pPr>
              <a:spcAft>
                <a:spcPts val="800"/>
              </a:spcAft>
              <a:defRPr sz="1700" b="0">
                <a:solidFill>
                  <a:srgbClr val="152B42"/>
                </a:solidFill>
                <a:latin typeface="DejaVu Sans"/>
              </a:defRPr>
            </a:pPr>
            <a:r>
              <a:t>5,120 features; k = 10</a:t>
            </a:r>
          </a:p>
        </p:txBody>
      </p:sp>
      <p:sp>
        <p:nvSpPr>
          <p:cNvPr id="17" name="Rectangle 16"/>
          <p:cNvSpPr/>
          <p:nvPr/>
        </p:nvSpPr>
        <p:spPr>
          <a:xfrm>
            <a:off x="8275320" y="2560320"/>
            <a:ext cx="3154680" cy="24231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2560320"/>
            <a:ext cx="41148" cy="242316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58200" y="2706624"/>
            <a:ext cx="278892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Reconstruction</a:t>
            </a:r>
          </a:p>
        </p:txBody>
      </p:sp>
      <p:sp>
        <p:nvSpPr>
          <p:cNvPr id="20" name="TextBox 19"/>
          <p:cNvSpPr txBox="1"/>
          <p:nvPr/>
        </p:nvSpPr>
        <p:spPr>
          <a:xfrm>
            <a:off x="8458200" y="3438144"/>
            <a:ext cx="2788920" cy="1463039"/>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r̂ = Wᵈz + b</a:t>
            </a:r>
          </a:p>
          <a:p>
            <a:pPr>
              <a:spcAft>
                <a:spcPts val="800"/>
              </a:spcAft>
              <a:defRPr sz="1700" b="0">
                <a:solidFill>
                  <a:srgbClr val="152B42"/>
                </a:solidFill>
                <a:latin typeface="DejaVu Sans"/>
              </a:defRPr>
            </a:pPr>
            <a:r>
              <a:t>Learned decoder directions</a:t>
            </a:r>
          </a:p>
        </p:txBody>
      </p:sp>
      <p:sp>
        <p:nvSpPr>
          <p:cNvPr id="21" name="TextBox 20"/>
          <p:cNvSpPr txBox="1"/>
          <p:nvPr/>
        </p:nvSpPr>
        <p:spPr>
          <a:xfrm>
            <a:off x="4041648" y="3383280"/>
            <a:ext cx="457200" cy="731520"/>
          </a:xfrm>
          <a:prstGeom prst="rect">
            <a:avLst/>
          </a:prstGeom>
          <a:noFill/>
        </p:spPr>
        <p:txBody>
          <a:bodyPr wrap="square" lIns="18288" rIns="18288" tIns="9144" bIns="9144">
            <a:spAutoFit/>
          </a:bodyPr>
          <a:lstStyle/>
          <a:p>
            <a:pPr>
              <a:spcAft>
                <a:spcPts val="800"/>
              </a:spcAft>
              <a:defRPr sz="3200" b="0">
                <a:solidFill>
                  <a:srgbClr val="087E8B"/>
                </a:solidFill>
                <a:latin typeface="DejaVu Sans"/>
              </a:defRPr>
            </a:pPr>
            <a:r>
              <a:t>→</a:t>
            </a:r>
          </a:p>
        </p:txBody>
      </p:sp>
      <p:sp>
        <p:nvSpPr>
          <p:cNvPr id="22" name="TextBox 21"/>
          <p:cNvSpPr txBox="1"/>
          <p:nvPr/>
        </p:nvSpPr>
        <p:spPr>
          <a:xfrm>
            <a:off x="7836408" y="3383280"/>
            <a:ext cx="457200" cy="731520"/>
          </a:xfrm>
          <a:prstGeom prst="rect">
            <a:avLst/>
          </a:prstGeom>
          <a:noFill/>
        </p:spPr>
        <p:txBody>
          <a:bodyPr wrap="square" lIns="18288" rIns="18288" tIns="9144" bIns="9144">
            <a:spAutoFit/>
          </a:bodyPr>
          <a:lstStyle/>
          <a:p>
            <a:pPr>
              <a:spcAft>
                <a:spcPts val="800"/>
              </a:spcAft>
              <a:defRPr sz="3200" b="0">
                <a:solidFill>
                  <a:srgbClr val="087E8B"/>
                </a:solidFill>
                <a:latin typeface="DejaVu Sans"/>
              </a:defRPr>
            </a:pPr>
            <a:r>
              <a:t>→</a:t>
            </a:r>
          </a:p>
        </p:txBody>
      </p:sp>
      <p:sp>
        <p:nvSpPr>
          <p:cNvPr id="23" name="TextBox 22"/>
          <p:cNvSpPr txBox="1"/>
          <p:nvPr/>
        </p:nvSpPr>
        <p:spPr>
          <a:xfrm>
            <a:off x="822960" y="5440680"/>
            <a:ext cx="10607040" cy="548640"/>
          </a:xfrm>
          <a:prstGeom prst="rect">
            <a:avLst/>
          </a:prstGeom>
          <a:noFill/>
        </p:spPr>
        <p:txBody>
          <a:bodyPr wrap="square" lIns="18288" rIns="18288" tIns="9144" bIns="9144">
            <a:spAutoFit/>
          </a:bodyPr>
          <a:lstStyle/>
          <a:p>
            <a:pPr>
              <a:spcAft>
                <a:spcPts val="800"/>
              </a:spcAft>
              <a:defRPr sz="1800" b="0">
                <a:solidFill>
                  <a:srgbClr val="59697A"/>
                </a:solidFill>
                <a:latin typeface="DejaVu Sans"/>
              </a:defRPr>
            </a:pPr>
            <a:r>
              <a:t>The same pretrained dictionary is used for every group; feature IDs are checkpoint-specific.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INTERVENTION EQUATION</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Feature scaling preserves reconstruction error</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Only the selected feature contribution is changed; the remaining block output stays intact.</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06</a:t>
            </a:r>
          </a:p>
        </p:txBody>
      </p:sp>
      <p:sp>
        <p:nvSpPr>
          <p:cNvPr id="9" name="Rectangle 8"/>
          <p:cNvSpPr/>
          <p:nvPr/>
        </p:nvSpPr>
        <p:spPr>
          <a:xfrm>
            <a:off x="822960" y="2423160"/>
            <a:ext cx="10561320" cy="1234440"/>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697480"/>
            <a:ext cx="9966960" cy="667512"/>
          </a:xfrm>
          <a:prstGeom prst="rect">
            <a:avLst/>
          </a:prstGeom>
          <a:noFill/>
        </p:spPr>
        <p:txBody>
          <a:bodyPr wrap="square" lIns="18288" rIns="18288" tIns="9144" bIns="9144">
            <a:spAutoFit/>
          </a:bodyPr>
          <a:lstStyle/>
          <a:p>
            <a:pPr>
              <a:spcAft>
                <a:spcPts val="800"/>
              </a:spcAft>
              <a:defRPr sz="3000" b="1">
                <a:solidFill>
                  <a:srgbClr val="087E8B"/>
                </a:solidFill>
                <a:latin typeface="DejaVu Sans"/>
              </a:defRPr>
            </a:pPr>
            <a:r>
              <a:t>output′ = output + (s − 1) · z_f · d_f</a:t>
            </a:r>
          </a:p>
        </p:txBody>
      </p:sp>
      <p:sp>
        <p:nvSpPr>
          <p:cNvPr id="11" name="TextBox 10"/>
          <p:cNvSpPr txBox="1"/>
          <p:nvPr/>
        </p:nvSpPr>
        <p:spPr>
          <a:xfrm>
            <a:off x="822960" y="4251960"/>
            <a:ext cx="2468880" cy="548640"/>
          </a:xfrm>
          <a:prstGeom prst="rect">
            <a:avLst/>
          </a:prstGeom>
          <a:noFill/>
        </p:spPr>
        <p:txBody>
          <a:bodyPr wrap="square" lIns="18288" rIns="18288" tIns="9144" bIns="9144">
            <a:spAutoFit/>
          </a:bodyPr>
          <a:lstStyle/>
          <a:p>
            <a:pPr>
              <a:spcAft>
                <a:spcPts val="800"/>
              </a:spcAft>
              <a:defRPr sz="2500" b="1">
                <a:solidFill>
                  <a:srgbClr val="152B42"/>
                </a:solidFill>
                <a:latin typeface="DejaVu Sans"/>
              </a:defRPr>
            </a:pPr>
            <a:r>
              <a:t>s = 0</a:t>
            </a:r>
          </a:p>
        </p:txBody>
      </p:sp>
      <p:sp>
        <p:nvSpPr>
          <p:cNvPr id="12" name="TextBox 11"/>
          <p:cNvSpPr txBox="1"/>
          <p:nvPr/>
        </p:nvSpPr>
        <p:spPr>
          <a:xfrm>
            <a:off x="822960" y="4892040"/>
            <a:ext cx="2468880" cy="530352"/>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remove contribution</a:t>
            </a:r>
          </a:p>
        </p:txBody>
      </p:sp>
      <p:sp>
        <p:nvSpPr>
          <p:cNvPr id="13" name="TextBox 12"/>
          <p:cNvSpPr txBox="1"/>
          <p:nvPr/>
        </p:nvSpPr>
        <p:spPr>
          <a:xfrm>
            <a:off x="3520440" y="4251960"/>
            <a:ext cx="2468880" cy="548640"/>
          </a:xfrm>
          <a:prstGeom prst="rect">
            <a:avLst/>
          </a:prstGeom>
          <a:noFill/>
        </p:spPr>
        <p:txBody>
          <a:bodyPr wrap="square" lIns="18288" rIns="18288" tIns="9144" bIns="9144">
            <a:spAutoFit/>
          </a:bodyPr>
          <a:lstStyle/>
          <a:p>
            <a:pPr>
              <a:spcAft>
                <a:spcPts val="800"/>
              </a:spcAft>
              <a:defRPr sz="2500" b="1">
                <a:solidFill>
                  <a:srgbClr val="152B42"/>
                </a:solidFill>
                <a:latin typeface="DejaVu Sans"/>
              </a:defRPr>
            </a:pPr>
            <a:r>
              <a:t>s = 0.5</a:t>
            </a:r>
          </a:p>
        </p:txBody>
      </p:sp>
      <p:sp>
        <p:nvSpPr>
          <p:cNvPr id="14" name="TextBox 13"/>
          <p:cNvSpPr txBox="1"/>
          <p:nvPr/>
        </p:nvSpPr>
        <p:spPr>
          <a:xfrm>
            <a:off x="3520440" y="4892040"/>
            <a:ext cx="2468880" cy="530352"/>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halve contribution</a:t>
            </a:r>
          </a:p>
        </p:txBody>
      </p:sp>
      <p:sp>
        <p:nvSpPr>
          <p:cNvPr id="15" name="TextBox 14"/>
          <p:cNvSpPr txBox="1"/>
          <p:nvPr/>
        </p:nvSpPr>
        <p:spPr>
          <a:xfrm>
            <a:off x="6217920" y="4251960"/>
            <a:ext cx="2468880" cy="548640"/>
          </a:xfrm>
          <a:prstGeom prst="rect">
            <a:avLst/>
          </a:prstGeom>
          <a:noFill/>
        </p:spPr>
        <p:txBody>
          <a:bodyPr wrap="square" lIns="18288" rIns="18288" tIns="9144" bIns="9144">
            <a:spAutoFit/>
          </a:bodyPr>
          <a:lstStyle/>
          <a:p>
            <a:pPr>
              <a:spcAft>
                <a:spcPts val="800"/>
              </a:spcAft>
              <a:defRPr sz="2500" b="1">
                <a:solidFill>
                  <a:srgbClr val="152B42"/>
                </a:solidFill>
                <a:latin typeface="DejaVu Sans"/>
              </a:defRPr>
            </a:pPr>
            <a:r>
              <a:t>s = 1</a:t>
            </a:r>
          </a:p>
        </p:txBody>
      </p:sp>
      <p:sp>
        <p:nvSpPr>
          <p:cNvPr id="16" name="TextBox 15"/>
          <p:cNvSpPr txBox="1"/>
          <p:nvPr/>
        </p:nvSpPr>
        <p:spPr>
          <a:xfrm>
            <a:off x="6217920" y="4892040"/>
            <a:ext cx="2468880" cy="530352"/>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exact no-op</a:t>
            </a:r>
          </a:p>
        </p:txBody>
      </p:sp>
      <p:sp>
        <p:nvSpPr>
          <p:cNvPr id="17" name="TextBox 16"/>
          <p:cNvSpPr txBox="1"/>
          <p:nvPr/>
        </p:nvSpPr>
        <p:spPr>
          <a:xfrm>
            <a:off x="8915400" y="4251960"/>
            <a:ext cx="2468880" cy="548640"/>
          </a:xfrm>
          <a:prstGeom prst="rect">
            <a:avLst/>
          </a:prstGeom>
          <a:noFill/>
        </p:spPr>
        <p:txBody>
          <a:bodyPr wrap="square" lIns="18288" rIns="18288" tIns="9144" bIns="9144">
            <a:spAutoFit/>
          </a:bodyPr>
          <a:lstStyle/>
          <a:p>
            <a:pPr>
              <a:spcAft>
                <a:spcPts val="800"/>
              </a:spcAft>
              <a:defRPr sz="2500" b="1">
                <a:solidFill>
                  <a:srgbClr val="152B42"/>
                </a:solidFill>
                <a:latin typeface="DejaVu Sans"/>
              </a:defRPr>
            </a:pPr>
            <a:r>
              <a:t>s = 2</a:t>
            </a:r>
          </a:p>
        </p:txBody>
      </p:sp>
      <p:sp>
        <p:nvSpPr>
          <p:cNvPr id="18" name="TextBox 17"/>
          <p:cNvSpPr txBox="1"/>
          <p:nvPr/>
        </p:nvSpPr>
        <p:spPr>
          <a:xfrm>
            <a:off x="8915400" y="4892040"/>
            <a:ext cx="2468880" cy="530352"/>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double contribution</a:t>
            </a:r>
          </a:p>
        </p:txBody>
      </p:sp>
      <p:sp>
        <p:nvSpPr>
          <p:cNvPr id="19" name="TextBox 18"/>
          <p:cNvSpPr txBox="1"/>
          <p:nvPr/>
        </p:nvSpPr>
        <p:spPr>
          <a:xfrm>
            <a:off x="822960" y="5715000"/>
            <a:ext cx="10515600" cy="39319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Spatial activations are scaled separately at every location. Features are edited one at a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FEATURE DISCOVERY</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Candidate ranking controls for prompt gender</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Discovery and held-out association are computed separately.</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07</a:t>
            </a:r>
          </a:p>
        </p:txBody>
      </p:sp>
      <p:sp>
        <p:nvSpPr>
          <p:cNvPr id="9" name="Rectangle 8"/>
          <p:cNvSpPr/>
          <p:nvPr/>
        </p:nvSpPr>
        <p:spPr>
          <a:xfrm>
            <a:off x="777240" y="2423160"/>
            <a:ext cx="10607040" cy="1143000"/>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10149840" cy="594360"/>
          </a:xfrm>
          <a:prstGeom prst="rect">
            <a:avLst/>
          </a:prstGeom>
          <a:noFill/>
        </p:spPr>
        <p:txBody>
          <a:bodyPr wrap="square" lIns="18288" rIns="18288" tIns="9144" bIns="9144">
            <a:spAutoFit/>
          </a:bodyPr>
          <a:lstStyle/>
          <a:p>
            <a:pPr>
              <a:spcAft>
                <a:spcPts val="800"/>
              </a:spcAft>
              <a:defRPr sz="2200" b="1">
                <a:solidFill>
                  <a:srgbClr val="087E8B"/>
                </a:solidFill>
                <a:latin typeface="DejaVu Sans"/>
              </a:defRPr>
            </a:pPr>
            <a:r>
              <a:t>C(r,f) = mean_g [(μ(r,g,f) − μ(other races,g,f)) / σ(discovery,f)]</a:t>
            </a:r>
          </a:p>
        </p:txBody>
      </p:sp>
      <p:sp>
        <p:nvSpPr>
          <p:cNvPr id="11" name="Rectangle 10"/>
          <p:cNvSpPr/>
          <p:nvPr/>
        </p:nvSpPr>
        <p:spPr>
          <a:xfrm>
            <a:off x="777240" y="3858768"/>
            <a:ext cx="5166360" cy="201168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58768"/>
            <a:ext cx="41148" cy="201168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005072"/>
            <a:ext cx="480060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Discovery: 480 samples</a:t>
            </a:r>
          </a:p>
        </p:txBody>
      </p:sp>
      <p:sp>
        <p:nvSpPr>
          <p:cNvPr id="14" name="TextBox 13"/>
          <p:cNvSpPr txBox="1"/>
          <p:nvPr/>
        </p:nvSpPr>
        <p:spPr>
          <a:xfrm>
            <a:off x="960120" y="4736592"/>
            <a:ext cx="4800600" cy="105156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Rank absolute standardized contrast.</a:t>
            </a:r>
          </a:p>
          <a:p>
            <a:pPr>
              <a:spcAft>
                <a:spcPts val="800"/>
              </a:spcAft>
              <a:defRPr sz="1700" b="0">
                <a:solidFill>
                  <a:srgbClr val="152B42"/>
                </a:solidFill>
                <a:latin typeface="DejaVu Sans"/>
              </a:defRPr>
            </a:pPr>
            <a:r>
              <a:t>Check sign agreement across genders.</a:t>
            </a:r>
          </a:p>
        </p:txBody>
      </p:sp>
      <p:sp>
        <p:nvSpPr>
          <p:cNvPr id="15" name="Rectangle 14"/>
          <p:cNvSpPr/>
          <p:nvPr/>
        </p:nvSpPr>
        <p:spPr>
          <a:xfrm>
            <a:off x="6144768" y="3858768"/>
            <a:ext cx="5166360" cy="201168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44768" y="3858768"/>
            <a:ext cx="41148" cy="201168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7648" y="4005072"/>
            <a:ext cx="480060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Held-out: 120 samples</a:t>
            </a:r>
          </a:p>
        </p:txBody>
      </p:sp>
      <p:sp>
        <p:nvSpPr>
          <p:cNvPr id="18" name="TextBox 17"/>
          <p:cNvSpPr txBox="1"/>
          <p:nvPr/>
        </p:nvSpPr>
        <p:spPr>
          <a:xfrm>
            <a:off x="6327648" y="4736592"/>
            <a:ext cx="4800600" cy="105156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Report the same selected feature’s effect.</a:t>
            </a:r>
          </a:p>
          <a:p>
            <a:pPr>
              <a:spcAft>
                <a:spcPts val="800"/>
              </a:spcAft>
              <a:defRPr sz="1700" b="0">
                <a:solidFill>
                  <a:srgbClr val="152B42"/>
                </a:solidFill>
                <a:latin typeface="DejaVu Sans"/>
              </a:defRPr>
            </a:pPr>
            <a:r>
              <a:t>No confidence intervals or p-values.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ASSOCIATION RESULTS</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Prompt-associated features persist on held-out data</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Different features emerge for different prompt groups; these are associations, not semantic labels.</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08</a:t>
            </a:r>
          </a:p>
        </p:txBody>
      </p:sp>
      <p:sp>
        <p:nvSpPr>
          <p:cNvPr id="9" name="TextBox 8"/>
          <p:cNvSpPr txBox="1"/>
          <p:nvPr/>
        </p:nvSpPr>
        <p:spPr>
          <a:xfrm>
            <a:off x="822960" y="2468880"/>
            <a:ext cx="2743200" cy="329184"/>
          </a:xfrm>
          <a:prstGeom prst="rect">
            <a:avLst/>
          </a:prstGeom>
          <a:noFill/>
        </p:spPr>
        <p:txBody>
          <a:bodyPr wrap="square" lIns="18288" rIns="18288" tIns="9144" bIns="9144">
            <a:spAutoFit/>
          </a:bodyPr>
          <a:lstStyle/>
          <a:p>
            <a:pPr>
              <a:spcAft>
                <a:spcPts val="800"/>
              </a:spcAft>
              <a:defRPr sz="1400" b="0">
                <a:solidFill>
                  <a:srgbClr val="152B42"/>
                </a:solidFill>
                <a:latin typeface="DejaVu Sans"/>
              </a:defRPr>
            </a:pPr>
            <a:r>
              <a:t>Black · f527</a:t>
            </a:r>
          </a:p>
        </p:txBody>
      </p:sp>
      <p:sp>
        <p:nvSpPr>
          <p:cNvPr id="10" name="Rectangle 9"/>
          <p:cNvSpPr/>
          <p:nvPr/>
        </p:nvSpPr>
        <p:spPr>
          <a:xfrm>
            <a:off x="3703320" y="2478024"/>
            <a:ext cx="5678644"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03320" y="2633472"/>
            <a:ext cx="5307797" cy="109728"/>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95560" y="2468880"/>
            <a:ext cx="1097280" cy="365760"/>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2.44 / 2.28</a:t>
            </a:r>
          </a:p>
        </p:txBody>
      </p:sp>
      <p:sp>
        <p:nvSpPr>
          <p:cNvPr id="13" name="TextBox 12"/>
          <p:cNvSpPr txBox="1"/>
          <p:nvPr/>
        </p:nvSpPr>
        <p:spPr>
          <a:xfrm>
            <a:off x="822960" y="2971800"/>
            <a:ext cx="2743200" cy="329184"/>
          </a:xfrm>
          <a:prstGeom prst="rect">
            <a:avLst/>
          </a:prstGeom>
          <a:noFill/>
        </p:spPr>
        <p:txBody>
          <a:bodyPr wrap="square" lIns="18288" rIns="18288" tIns="9144" bIns="9144">
            <a:spAutoFit/>
          </a:bodyPr>
          <a:lstStyle/>
          <a:p>
            <a:pPr>
              <a:spcAft>
                <a:spcPts val="800"/>
              </a:spcAft>
              <a:defRPr sz="1400" b="0">
                <a:solidFill>
                  <a:srgbClr val="152B42"/>
                </a:solidFill>
                <a:latin typeface="DejaVu Sans"/>
              </a:defRPr>
            </a:pPr>
            <a:r>
              <a:t>White · f4384</a:t>
            </a:r>
          </a:p>
        </p:txBody>
      </p:sp>
      <p:sp>
        <p:nvSpPr>
          <p:cNvPr id="14" name="Rectangle 13"/>
          <p:cNvSpPr/>
          <p:nvPr/>
        </p:nvSpPr>
        <p:spPr>
          <a:xfrm>
            <a:off x="3703320" y="2980944"/>
            <a:ext cx="4515640"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703320" y="3136392"/>
            <a:ext cx="4354111" cy="109728"/>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95560" y="2971800"/>
            <a:ext cx="1097280" cy="365760"/>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1.94 / 1.87</a:t>
            </a:r>
          </a:p>
        </p:txBody>
      </p:sp>
      <p:sp>
        <p:nvSpPr>
          <p:cNvPr id="17" name="TextBox 16"/>
          <p:cNvSpPr txBox="1"/>
          <p:nvPr/>
        </p:nvSpPr>
        <p:spPr>
          <a:xfrm>
            <a:off x="822960" y="3474720"/>
            <a:ext cx="2743200" cy="329184"/>
          </a:xfrm>
          <a:prstGeom prst="rect">
            <a:avLst/>
          </a:prstGeom>
          <a:noFill/>
        </p:spPr>
        <p:txBody>
          <a:bodyPr wrap="square" lIns="18288" rIns="18288" tIns="9144" bIns="9144">
            <a:spAutoFit/>
          </a:bodyPr>
          <a:lstStyle/>
          <a:p>
            <a:pPr>
              <a:spcAft>
                <a:spcPts val="800"/>
              </a:spcAft>
              <a:defRPr sz="1400" b="0">
                <a:solidFill>
                  <a:srgbClr val="152B42"/>
                </a:solidFill>
                <a:latin typeface="DejaVu Sans"/>
              </a:defRPr>
            </a:pPr>
            <a:r>
              <a:t>East Asian · f1431</a:t>
            </a:r>
          </a:p>
        </p:txBody>
      </p:sp>
      <p:sp>
        <p:nvSpPr>
          <p:cNvPr id="18" name="Rectangle 17"/>
          <p:cNvSpPr/>
          <p:nvPr/>
        </p:nvSpPr>
        <p:spPr>
          <a:xfrm>
            <a:off x="3703320" y="3483864"/>
            <a:ext cx="3802971"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703320" y="3639312"/>
            <a:ext cx="3294141" cy="109728"/>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474720"/>
            <a:ext cx="1097280" cy="365760"/>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1.63 / 1.41</a:t>
            </a:r>
          </a:p>
        </p:txBody>
      </p:sp>
      <p:sp>
        <p:nvSpPr>
          <p:cNvPr id="21" name="TextBox 20"/>
          <p:cNvSpPr txBox="1"/>
          <p:nvPr/>
        </p:nvSpPr>
        <p:spPr>
          <a:xfrm>
            <a:off x="822960" y="3977640"/>
            <a:ext cx="2743200" cy="329184"/>
          </a:xfrm>
          <a:prstGeom prst="rect">
            <a:avLst/>
          </a:prstGeom>
          <a:noFill/>
        </p:spPr>
        <p:txBody>
          <a:bodyPr wrap="square" lIns="18288" rIns="18288" tIns="9144" bIns="9144">
            <a:spAutoFit/>
          </a:bodyPr>
          <a:lstStyle/>
          <a:p>
            <a:pPr>
              <a:spcAft>
                <a:spcPts val="800"/>
              </a:spcAft>
              <a:defRPr sz="1400" b="0">
                <a:solidFill>
                  <a:srgbClr val="152B42"/>
                </a:solidFill>
                <a:latin typeface="DejaVu Sans"/>
              </a:defRPr>
            </a:pPr>
            <a:r>
              <a:t>Middle Eastern · f3530</a:t>
            </a:r>
          </a:p>
        </p:txBody>
      </p:sp>
      <p:sp>
        <p:nvSpPr>
          <p:cNvPr id="22" name="Rectangle 21"/>
          <p:cNvSpPr/>
          <p:nvPr/>
        </p:nvSpPr>
        <p:spPr>
          <a:xfrm>
            <a:off x="3703320" y="3986784"/>
            <a:ext cx="5679431"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703320" y="4142232"/>
            <a:ext cx="6169407" cy="109728"/>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95560" y="3977640"/>
            <a:ext cx="1097280" cy="365760"/>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2.44 / 2.65</a:t>
            </a:r>
          </a:p>
        </p:txBody>
      </p:sp>
      <p:sp>
        <p:nvSpPr>
          <p:cNvPr id="25" name="TextBox 24"/>
          <p:cNvSpPr txBox="1"/>
          <p:nvPr/>
        </p:nvSpPr>
        <p:spPr>
          <a:xfrm>
            <a:off x="822960" y="4480560"/>
            <a:ext cx="2743200" cy="329184"/>
          </a:xfrm>
          <a:prstGeom prst="rect">
            <a:avLst/>
          </a:prstGeom>
          <a:noFill/>
        </p:spPr>
        <p:txBody>
          <a:bodyPr wrap="square" lIns="18288" rIns="18288" tIns="9144" bIns="9144">
            <a:spAutoFit/>
          </a:bodyPr>
          <a:lstStyle/>
          <a:p>
            <a:pPr>
              <a:spcAft>
                <a:spcPts val="800"/>
              </a:spcAft>
              <a:defRPr sz="1400" b="0">
                <a:solidFill>
                  <a:srgbClr val="152B42"/>
                </a:solidFill>
                <a:latin typeface="DejaVu Sans"/>
              </a:defRPr>
            </a:pPr>
            <a:r>
              <a:t>Indian · f2527</a:t>
            </a:r>
          </a:p>
        </p:txBody>
      </p:sp>
      <p:sp>
        <p:nvSpPr>
          <p:cNvPr id="26" name="Rectangle 25"/>
          <p:cNvSpPr/>
          <p:nvPr/>
        </p:nvSpPr>
        <p:spPr>
          <a:xfrm>
            <a:off x="3703320" y="4489704"/>
            <a:ext cx="5657246"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703320" y="4645152"/>
            <a:ext cx="5756609" cy="109728"/>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95560" y="4480560"/>
            <a:ext cx="1097280" cy="365760"/>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2.43 / 2.47</a:t>
            </a:r>
          </a:p>
        </p:txBody>
      </p:sp>
      <p:sp>
        <p:nvSpPr>
          <p:cNvPr id="29" name="TextBox 28"/>
          <p:cNvSpPr txBox="1"/>
          <p:nvPr/>
        </p:nvSpPr>
        <p:spPr>
          <a:xfrm>
            <a:off x="822960" y="4983480"/>
            <a:ext cx="2743200" cy="329184"/>
          </a:xfrm>
          <a:prstGeom prst="rect">
            <a:avLst/>
          </a:prstGeom>
          <a:noFill/>
        </p:spPr>
        <p:txBody>
          <a:bodyPr wrap="square" lIns="18288" rIns="18288" tIns="9144" bIns="9144">
            <a:spAutoFit/>
          </a:bodyPr>
          <a:lstStyle/>
          <a:p>
            <a:pPr>
              <a:spcAft>
                <a:spcPts val="800"/>
              </a:spcAft>
              <a:defRPr sz="1400" b="0">
                <a:solidFill>
                  <a:srgbClr val="152B42"/>
                </a:solidFill>
                <a:latin typeface="DejaVu Sans"/>
              </a:defRPr>
            </a:pPr>
            <a:r>
              <a:t>Hispanic · f1678</a:t>
            </a:r>
          </a:p>
        </p:txBody>
      </p:sp>
      <p:sp>
        <p:nvSpPr>
          <p:cNvPr id="30" name="Rectangle 29"/>
          <p:cNvSpPr/>
          <p:nvPr/>
        </p:nvSpPr>
        <p:spPr>
          <a:xfrm>
            <a:off x="3703320" y="4992624"/>
            <a:ext cx="4012076"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03320" y="5148072"/>
            <a:ext cx="3834542" cy="109728"/>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95560" y="4983480"/>
            <a:ext cx="1097280" cy="365760"/>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1.72 / 1.64</a:t>
            </a:r>
          </a:p>
        </p:txBody>
      </p:sp>
      <p:sp>
        <p:nvSpPr>
          <p:cNvPr id="33" name="TextBox 32"/>
          <p:cNvSpPr txBox="1"/>
          <p:nvPr/>
        </p:nvSpPr>
        <p:spPr>
          <a:xfrm>
            <a:off x="3749039" y="5715000"/>
            <a:ext cx="1371600" cy="320040"/>
          </a:xfrm>
          <a:prstGeom prst="rect">
            <a:avLst/>
          </a:prstGeom>
          <a:noFill/>
        </p:spPr>
        <p:txBody>
          <a:bodyPr wrap="square" lIns="18288" rIns="18288" tIns="9144" bIns="9144">
            <a:spAutoFit/>
          </a:bodyPr>
          <a:lstStyle/>
          <a:p>
            <a:pPr>
              <a:spcAft>
                <a:spcPts val="800"/>
              </a:spcAft>
              <a:defRPr sz="1300" b="1">
                <a:solidFill>
                  <a:srgbClr val="087E8B"/>
                </a:solidFill>
                <a:latin typeface="DejaVu Sans"/>
              </a:defRPr>
            </a:pPr>
            <a:r>
              <a:t>Discovery</a:t>
            </a:r>
          </a:p>
        </p:txBody>
      </p:sp>
      <p:sp>
        <p:nvSpPr>
          <p:cNvPr id="34" name="TextBox 33"/>
          <p:cNvSpPr txBox="1"/>
          <p:nvPr/>
        </p:nvSpPr>
        <p:spPr>
          <a:xfrm>
            <a:off x="5166360" y="5715000"/>
            <a:ext cx="1371600" cy="320040"/>
          </a:xfrm>
          <a:prstGeom prst="rect">
            <a:avLst/>
          </a:prstGeom>
          <a:noFill/>
        </p:spPr>
        <p:txBody>
          <a:bodyPr wrap="square" lIns="18288" rIns="18288" tIns="9144" bIns="9144">
            <a:spAutoFit/>
          </a:bodyPr>
          <a:lstStyle/>
          <a:p>
            <a:pPr>
              <a:spcAft>
                <a:spcPts val="800"/>
              </a:spcAft>
              <a:defRPr sz="1300" b="1">
                <a:solidFill>
                  <a:srgbClr val="D97936"/>
                </a:solidFill>
                <a:latin typeface="DejaVu Sans"/>
              </a:defRPr>
            </a:pPr>
            <a:r>
              <a:t>Held-out</a:t>
            </a:r>
          </a:p>
        </p:txBody>
      </p:sp>
      <p:sp>
        <p:nvSpPr>
          <p:cNvPr id="35" name="TextBox 34"/>
          <p:cNvSpPr txBox="1"/>
          <p:nvPr/>
        </p:nvSpPr>
        <p:spPr>
          <a:xfrm>
            <a:off x="6400800" y="5715000"/>
            <a:ext cx="4754880" cy="320040"/>
          </a:xfrm>
          <a:prstGeom prst="rect">
            <a:avLst/>
          </a:prstGeom>
          <a:noFill/>
        </p:spPr>
        <p:txBody>
          <a:bodyPr wrap="square" lIns="18288" rIns="18288" tIns="9144" bIns="9144">
            <a:spAutoFit/>
          </a:bodyPr>
          <a:lstStyle/>
          <a:p>
            <a:pPr>
              <a:spcAft>
                <a:spcPts val="800"/>
              </a:spcAft>
              <a:defRPr sz="1200" b="0">
                <a:solidFill>
                  <a:srgbClr val="59697A"/>
                </a:solidFill>
                <a:latin typeface="DejaVu Sans"/>
              </a:defRPr>
            </a:pPr>
            <a:r>
              <a:t>Standardized contrast; larger is stronger association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EXPERIMENTAL CONTROLS</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A fully matched intervention experiment</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Three seeds, all categories, the same three features, and four strengths.</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09</a:t>
            </a:r>
          </a:p>
        </p:txBody>
      </p:sp>
      <p:sp>
        <p:nvSpPr>
          <p:cNvPr id="9" name="TextBox 8"/>
          <p:cNvSpPr txBox="1"/>
          <p:nvPr/>
        </p:nvSpPr>
        <p:spPr>
          <a:xfrm>
            <a:off x="822960" y="2423160"/>
            <a:ext cx="10698480" cy="685800"/>
          </a:xfrm>
          <a:prstGeom prst="rect">
            <a:avLst/>
          </a:prstGeom>
          <a:noFill/>
        </p:spPr>
        <p:txBody>
          <a:bodyPr wrap="square" lIns="18288" rIns="18288" tIns="9144" bIns="9144">
            <a:spAutoFit/>
          </a:bodyPr>
          <a:lstStyle/>
          <a:p>
            <a:pPr>
              <a:spcAft>
                <a:spcPts val="800"/>
              </a:spcAft>
              <a:defRPr sz="2350" b="1">
                <a:solidFill>
                  <a:srgbClr val="087E8B"/>
                </a:solidFill>
                <a:latin typeface="DejaVu Sans"/>
              </a:defRPr>
            </a:pPr>
            <a:r>
              <a:t>12 categories × 3 seeds × 3 features × 4 strengths = 432 edits</a:t>
            </a:r>
          </a:p>
        </p:txBody>
      </p:sp>
      <p:sp>
        <p:nvSpPr>
          <p:cNvPr id="10" name="Rectangle 9"/>
          <p:cNvSpPr/>
          <p:nvPr/>
        </p:nvSpPr>
        <p:spPr>
          <a:xfrm>
            <a:off x="822960" y="3429000"/>
            <a:ext cx="5166360" cy="205740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3429000"/>
            <a:ext cx="41148" cy="20574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75304"/>
            <a:ext cx="480060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36 / 36 baseline replays</a:t>
            </a:r>
          </a:p>
        </p:txBody>
      </p:sp>
      <p:sp>
        <p:nvSpPr>
          <p:cNvPr id="13" name="TextBox 12"/>
          <p:cNvSpPr txBox="1"/>
          <p:nvPr/>
        </p:nvSpPr>
        <p:spPr>
          <a:xfrm>
            <a:off x="1005840" y="4306824"/>
            <a:ext cx="4800600" cy="109728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Pixel-identical to saved baseline PNGs.</a:t>
            </a:r>
          </a:p>
          <a:p>
            <a:pPr>
              <a:spcAft>
                <a:spcPts val="800"/>
              </a:spcAft>
              <a:defRPr sz="1700" b="0">
                <a:solidFill>
                  <a:srgbClr val="152B42"/>
                </a:solidFill>
                <a:latin typeface="DejaVu Sans"/>
              </a:defRPr>
            </a:pPr>
            <a:r>
              <a:t>Seed values: 40, 41, 42.</a:t>
            </a:r>
          </a:p>
        </p:txBody>
      </p:sp>
      <p:sp>
        <p:nvSpPr>
          <p:cNvPr id="14" name="Rectangle 13"/>
          <p:cNvSpPr/>
          <p:nvPr/>
        </p:nvSpPr>
        <p:spPr>
          <a:xfrm>
            <a:off x="6172200" y="3429000"/>
            <a:ext cx="5166360" cy="205740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3429000"/>
            <a:ext cx="41148" cy="20574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575304"/>
            <a:ext cx="480060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108 / 108 no-op controls</a:t>
            </a:r>
          </a:p>
        </p:txBody>
      </p:sp>
      <p:sp>
        <p:nvSpPr>
          <p:cNvPr id="17" name="TextBox 16"/>
          <p:cNvSpPr txBox="1"/>
          <p:nvPr/>
        </p:nvSpPr>
        <p:spPr>
          <a:xfrm>
            <a:off x="6355080" y="4306824"/>
            <a:ext cx="4800600" cy="109728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Strength 1 is pixel-identical to replay.</a:t>
            </a:r>
          </a:p>
          <a:p>
            <a:pPr>
              <a:spcAft>
                <a:spcPts val="800"/>
              </a:spcAft>
              <a:defRPr sz="1700" b="0">
                <a:solidFill>
                  <a:srgbClr val="152B42"/>
                </a:solidFill>
                <a:latin typeface="DejaVu Sans"/>
              </a:defRPr>
            </a:pPr>
            <a:r>
              <a:t>No reconstruction replacement in edits.</a:t>
            </a:r>
          </a:p>
        </p:txBody>
      </p:sp>
      <p:sp>
        <p:nvSpPr>
          <p:cNvPr id="18" name="TextBox 17"/>
          <p:cNvSpPr txBox="1"/>
          <p:nvPr/>
        </p:nvSpPr>
        <p:spPr>
          <a:xfrm>
            <a:off x="868680" y="5852160"/>
            <a:ext cx="10515600" cy="320040"/>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Checkpoint: down.2.1 · 5,120 features · k=10 | SDXL Turbo · 512² · 1 step · CFG=0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VISUAL INTERVENTION</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Feature 138 does not cleanly control head coverings</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Middle Eastern woman prompts; scarf remains in seed 40 at strength 0.</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10</a:t>
            </a:r>
          </a:p>
        </p:txBody>
      </p:sp>
      <p:sp>
        <p:nvSpPr>
          <p:cNvPr id="9" name="TextBox 8"/>
          <p:cNvSpPr txBox="1"/>
          <p:nvPr/>
        </p:nvSpPr>
        <p:spPr>
          <a:xfrm>
            <a:off x="731520" y="2944368"/>
            <a:ext cx="658368" cy="411480"/>
          </a:xfrm>
          <a:prstGeom prst="rect">
            <a:avLst/>
          </a:prstGeom>
          <a:noFill/>
        </p:spPr>
        <p:txBody>
          <a:bodyPr wrap="square" lIns="18288" rIns="18288" tIns="9144" bIns="9144">
            <a:spAutoFit/>
          </a:bodyPr>
          <a:lstStyle/>
          <a:p>
            <a:pPr>
              <a:spcAft>
                <a:spcPts val="800"/>
              </a:spcAft>
              <a:defRPr sz="1200" b="1">
                <a:solidFill>
                  <a:srgbClr val="59697A"/>
                </a:solidFill>
                <a:latin typeface="DejaVu Sans"/>
              </a:defRPr>
            </a:pPr>
            <a:r>
              <a:t>Seed 40</a:t>
            </a:r>
          </a:p>
        </p:txBody>
      </p:sp>
      <p:sp>
        <p:nvSpPr>
          <p:cNvPr id="10" name="TextBox 9"/>
          <p:cNvSpPr txBox="1"/>
          <p:nvPr/>
        </p:nvSpPr>
        <p:spPr>
          <a:xfrm>
            <a:off x="1481328"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Original</a:t>
            </a:r>
          </a:p>
        </p:txBody>
      </p:sp>
      <p:pic>
        <p:nvPicPr>
          <p:cNvPr id="11" name="Picture 10" descr="baseline40.png"/>
          <p:cNvPicPr>
            <a:picLocks noChangeAspect="1"/>
          </p:cNvPicPr>
          <p:nvPr/>
        </p:nvPicPr>
        <p:blipFill>
          <a:blip r:embed="rId3"/>
          <a:stretch>
            <a:fillRect/>
          </a:stretch>
        </p:blipFill>
        <p:spPr>
          <a:xfrm>
            <a:off x="1801368" y="2523744"/>
            <a:ext cx="1536192" cy="1536192"/>
          </a:xfrm>
          <a:prstGeom prst="rect">
            <a:avLst/>
          </a:prstGeom>
        </p:spPr>
      </p:pic>
      <p:sp>
        <p:nvSpPr>
          <p:cNvPr id="12" name="TextBox 11"/>
          <p:cNvSpPr txBox="1"/>
          <p:nvPr/>
        </p:nvSpPr>
        <p:spPr>
          <a:xfrm>
            <a:off x="3986784"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Activation map</a:t>
            </a:r>
          </a:p>
        </p:txBody>
      </p:sp>
      <p:pic>
        <p:nvPicPr>
          <p:cNvPr id="13" name="Picture 12" descr="seed40_feature138_heatmap.png"/>
          <p:cNvPicPr>
            <a:picLocks noChangeAspect="1"/>
          </p:cNvPicPr>
          <p:nvPr/>
        </p:nvPicPr>
        <p:blipFill>
          <a:blip r:embed="rId4"/>
          <a:stretch>
            <a:fillRect/>
          </a:stretch>
        </p:blipFill>
        <p:spPr>
          <a:xfrm>
            <a:off x="4306824" y="2523744"/>
            <a:ext cx="1536192" cy="1536192"/>
          </a:xfrm>
          <a:prstGeom prst="rect">
            <a:avLst/>
          </a:prstGeom>
        </p:spPr>
      </p:pic>
      <p:sp>
        <p:nvSpPr>
          <p:cNvPr id="14" name="TextBox 13"/>
          <p:cNvSpPr txBox="1"/>
          <p:nvPr/>
        </p:nvSpPr>
        <p:spPr>
          <a:xfrm>
            <a:off x="6492240"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0</a:t>
            </a:r>
          </a:p>
        </p:txBody>
      </p:sp>
      <p:pic>
        <p:nvPicPr>
          <p:cNvPr id="15" name="Picture 14" descr="seed40_feature138_strength0.png"/>
          <p:cNvPicPr>
            <a:picLocks noChangeAspect="1"/>
          </p:cNvPicPr>
          <p:nvPr/>
        </p:nvPicPr>
        <p:blipFill>
          <a:blip r:embed="rId5"/>
          <a:stretch>
            <a:fillRect/>
          </a:stretch>
        </p:blipFill>
        <p:spPr>
          <a:xfrm>
            <a:off x="6812280" y="2523744"/>
            <a:ext cx="1536192" cy="1536192"/>
          </a:xfrm>
          <a:prstGeom prst="rect">
            <a:avLst/>
          </a:prstGeom>
        </p:spPr>
      </p:pic>
      <p:sp>
        <p:nvSpPr>
          <p:cNvPr id="16" name="TextBox 15"/>
          <p:cNvSpPr txBox="1"/>
          <p:nvPr/>
        </p:nvSpPr>
        <p:spPr>
          <a:xfrm>
            <a:off x="8997696"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2</a:t>
            </a:r>
          </a:p>
        </p:txBody>
      </p:sp>
      <p:pic>
        <p:nvPicPr>
          <p:cNvPr id="17" name="Picture 16" descr="seed40_feature138_strength2.png"/>
          <p:cNvPicPr>
            <a:picLocks noChangeAspect="1"/>
          </p:cNvPicPr>
          <p:nvPr/>
        </p:nvPicPr>
        <p:blipFill>
          <a:blip r:embed="rId6"/>
          <a:stretch>
            <a:fillRect/>
          </a:stretch>
        </p:blipFill>
        <p:spPr>
          <a:xfrm>
            <a:off x="9317736" y="2523744"/>
            <a:ext cx="1536192" cy="1536192"/>
          </a:xfrm>
          <a:prstGeom prst="rect">
            <a:avLst/>
          </a:prstGeom>
        </p:spPr>
      </p:pic>
      <p:sp>
        <p:nvSpPr>
          <p:cNvPr id="18" name="TextBox 17"/>
          <p:cNvSpPr txBox="1"/>
          <p:nvPr/>
        </p:nvSpPr>
        <p:spPr>
          <a:xfrm>
            <a:off x="731520" y="4882896"/>
            <a:ext cx="658368" cy="411480"/>
          </a:xfrm>
          <a:prstGeom prst="rect">
            <a:avLst/>
          </a:prstGeom>
          <a:noFill/>
        </p:spPr>
        <p:txBody>
          <a:bodyPr wrap="square" lIns="18288" rIns="18288" tIns="9144" bIns="9144">
            <a:spAutoFit/>
          </a:bodyPr>
          <a:lstStyle/>
          <a:p>
            <a:pPr>
              <a:spcAft>
                <a:spcPts val="800"/>
              </a:spcAft>
              <a:defRPr sz="1200" b="1">
                <a:solidFill>
                  <a:srgbClr val="59697A"/>
                </a:solidFill>
                <a:latin typeface="DejaVu Sans"/>
              </a:defRPr>
            </a:pPr>
            <a:r>
              <a:t>Seed 41</a:t>
            </a:r>
          </a:p>
        </p:txBody>
      </p:sp>
      <p:sp>
        <p:nvSpPr>
          <p:cNvPr id="19" name="TextBox 18"/>
          <p:cNvSpPr txBox="1"/>
          <p:nvPr/>
        </p:nvSpPr>
        <p:spPr>
          <a:xfrm>
            <a:off x="1481328"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Original</a:t>
            </a:r>
          </a:p>
        </p:txBody>
      </p:sp>
      <p:pic>
        <p:nvPicPr>
          <p:cNvPr id="20" name="Picture 19" descr="seed41_original.png"/>
          <p:cNvPicPr>
            <a:picLocks noChangeAspect="1"/>
          </p:cNvPicPr>
          <p:nvPr/>
        </p:nvPicPr>
        <p:blipFill>
          <a:blip r:embed="rId7"/>
          <a:stretch>
            <a:fillRect/>
          </a:stretch>
        </p:blipFill>
        <p:spPr>
          <a:xfrm>
            <a:off x="1801368" y="4462272"/>
            <a:ext cx="1536192" cy="1536192"/>
          </a:xfrm>
          <a:prstGeom prst="rect">
            <a:avLst/>
          </a:prstGeom>
        </p:spPr>
      </p:pic>
      <p:sp>
        <p:nvSpPr>
          <p:cNvPr id="21" name="TextBox 20"/>
          <p:cNvSpPr txBox="1"/>
          <p:nvPr/>
        </p:nvSpPr>
        <p:spPr>
          <a:xfrm>
            <a:off x="3986784"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Activation map</a:t>
            </a:r>
          </a:p>
        </p:txBody>
      </p:sp>
      <p:pic>
        <p:nvPicPr>
          <p:cNvPr id="22" name="Picture 21" descr="seed41_feature138_heatmap.png"/>
          <p:cNvPicPr>
            <a:picLocks noChangeAspect="1"/>
          </p:cNvPicPr>
          <p:nvPr/>
        </p:nvPicPr>
        <p:blipFill>
          <a:blip r:embed="rId8"/>
          <a:stretch>
            <a:fillRect/>
          </a:stretch>
        </p:blipFill>
        <p:spPr>
          <a:xfrm>
            <a:off x="4306824" y="4462272"/>
            <a:ext cx="1536192" cy="1536192"/>
          </a:xfrm>
          <a:prstGeom prst="rect">
            <a:avLst/>
          </a:prstGeom>
        </p:spPr>
      </p:pic>
      <p:sp>
        <p:nvSpPr>
          <p:cNvPr id="23" name="TextBox 22"/>
          <p:cNvSpPr txBox="1"/>
          <p:nvPr/>
        </p:nvSpPr>
        <p:spPr>
          <a:xfrm>
            <a:off x="6492240"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0</a:t>
            </a:r>
          </a:p>
        </p:txBody>
      </p:sp>
      <p:pic>
        <p:nvPicPr>
          <p:cNvPr id="24" name="Picture 23" descr="seed41_feature138_strength0.png"/>
          <p:cNvPicPr>
            <a:picLocks noChangeAspect="1"/>
          </p:cNvPicPr>
          <p:nvPr/>
        </p:nvPicPr>
        <p:blipFill>
          <a:blip r:embed="rId9"/>
          <a:stretch>
            <a:fillRect/>
          </a:stretch>
        </p:blipFill>
        <p:spPr>
          <a:xfrm>
            <a:off x="6812280" y="4462272"/>
            <a:ext cx="1536192" cy="1536192"/>
          </a:xfrm>
          <a:prstGeom prst="rect">
            <a:avLst/>
          </a:prstGeom>
        </p:spPr>
      </p:pic>
      <p:sp>
        <p:nvSpPr>
          <p:cNvPr id="25" name="TextBox 24"/>
          <p:cNvSpPr txBox="1"/>
          <p:nvPr/>
        </p:nvSpPr>
        <p:spPr>
          <a:xfrm>
            <a:off x="8997696"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2</a:t>
            </a:r>
          </a:p>
        </p:txBody>
      </p:sp>
      <p:pic>
        <p:nvPicPr>
          <p:cNvPr id="26" name="Picture 25" descr="seed41_feature138_strength2.png"/>
          <p:cNvPicPr>
            <a:picLocks noChangeAspect="1"/>
          </p:cNvPicPr>
          <p:nvPr/>
        </p:nvPicPr>
        <p:blipFill>
          <a:blip r:embed="rId10"/>
          <a:stretch>
            <a:fillRect/>
          </a:stretch>
        </p:blipFill>
        <p:spPr>
          <a:xfrm>
            <a:off x="9317736" y="4462272"/>
            <a:ext cx="1536192" cy="153619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VISUAL INTERVENTION</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Feature 3530 is associated, but not a scarf switch</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The strongest additional candidate changes detail without removing the seed-40 scarf.</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11</a:t>
            </a:r>
          </a:p>
        </p:txBody>
      </p:sp>
      <p:sp>
        <p:nvSpPr>
          <p:cNvPr id="9" name="TextBox 8"/>
          <p:cNvSpPr txBox="1"/>
          <p:nvPr/>
        </p:nvSpPr>
        <p:spPr>
          <a:xfrm>
            <a:off x="731520" y="2944368"/>
            <a:ext cx="658368" cy="411480"/>
          </a:xfrm>
          <a:prstGeom prst="rect">
            <a:avLst/>
          </a:prstGeom>
          <a:noFill/>
        </p:spPr>
        <p:txBody>
          <a:bodyPr wrap="square" lIns="18288" rIns="18288" tIns="9144" bIns="9144">
            <a:spAutoFit/>
          </a:bodyPr>
          <a:lstStyle/>
          <a:p>
            <a:pPr>
              <a:spcAft>
                <a:spcPts val="800"/>
              </a:spcAft>
              <a:defRPr sz="1200" b="1">
                <a:solidFill>
                  <a:srgbClr val="59697A"/>
                </a:solidFill>
                <a:latin typeface="DejaVu Sans"/>
              </a:defRPr>
            </a:pPr>
            <a:r>
              <a:t>Seed 40</a:t>
            </a:r>
          </a:p>
        </p:txBody>
      </p:sp>
      <p:sp>
        <p:nvSpPr>
          <p:cNvPr id="10" name="TextBox 9"/>
          <p:cNvSpPr txBox="1"/>
          <p:nvPr/>
        </p:nvSpPr>
        <p:spPr>
          <a:xfrm>
            <a:off x="1481328"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Original</a:t>
            </a:r>
          </a:p>
        </p:txBody>
      </p:sp>
      <p:pic>
        <p:nvPicPr>
          <p:cNvPr id="11" name="Picture 10" descr="baseline40.png"/>
          <p:cNvPicPr>
            <a:picLocks noChangeAspect="1"/>
          </p:cNvPicPr>
          <p:nvPr/>
        </p:nvPicPr>
        <p:blipFill>
          <a:blip r:embed="rId3"/>
          <a:stretch>
            <a:fillRect/>
          </a:stretch>
        </p:blipFill>
        <p:spPr>
          <a:xfrm>
            <a:off x="1801368" y="2523744"/>
            <a:ext cx="1536192" cy="1536192"/>
          </a:xfrm>
          <a:prstGeom prst="rect">
            <a:avLst/>
          </a:prstGeom>
        </p:spPr>
      </p:pic>
      <p:sp>
        <p:nvSpPr>
          <p:cNvPr id="12" name="TextBox 11"/>
          <p:cNvSpPr txBox="1"/>
          <p:nvPr/>
        </p:nvSpPr>
        <p:spPr>
          <a:xfrm>
            <a:off x="3986784"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Activation map</a:t>
            </a:r>
          </a:p>
        </p:txBody>
      </p:sp>
      <p:pic>
        <p:nvPicPr>
          <p:cNvPr id="13" name="Picture 12" descr="seed40_feature3530_heatmap.png"/>
          <p:cNvPicPr>
            <a:picLocks noChangeAspect="1"/>
          </p:cNvPicPr>
          <p:nvPr/>
        </p:nvPicPr>
        <p:blipFill>
          <a:blip r:embed="rId4"/>
          <a:stretch>
            <a:fillRect/>
          </a:stretch>
        </p:blipFill>
        <p:spPr>
          <a:xfrm>
            <a:off x="4306824" y="2523744"/>
            <a:ext cx="1536192" cy="1536192"/>
          </a:xfrm>
          <a:prstGeom prst="rect">
            <a:avLst/>
          </a:prstGeom>
        </p:spPr>
      </p:pic>
      <p:sp>
        <p:nvSpPr>
          <p:cNvPr id="14" name="TextBox 13"/>
          <p:cNvSpPr txBox="1"/>
          <p:nvPr/>
        </p:nvSpPr>
        <p:spPr>
          <a:xfrm>
            <a:off x="6492240"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0</a:t>
            </a:r>
          </a:p>
        </p:txBody>
      </p:sp>
      <p:pic>
        <p:nvPicPr>
          <p:cNvPr id="15" name="Picture 14" descr="seed40_feature3530_strength0.png"/>
          <p:cNvPicPr>
            <a:picLocks noChangeAspect="1"/>
          </p:cNvPicPr>
          <p:nvPr/>
        </p:nvPicPr>
        <p:blipFill>
          <a:blip r:embed="rId5"/>
          <a:stretch>
            <a:fillRect/>
          </a:stretch>
        </p:blipFill>
        <p:spPr>
          <a:xfrm>
            <a:off x="6812280" y="2523744"/>
            <a:ext cx="1536192" cy="1536192"/>
          </a:xfrm>
          <a:prstGeom prst="rect">
            <a:avLst/>
          </a:prstGeom>
        </p:spPr>
      </p:pic>
      <p:sp>
        <p:nvSpPr>
          <p:cNvPr id="16" name="TextBox 15"/>
          <p:cNvSpPr txBox="1"/>
          <p:nvPr/>
        </p:nvSpPr>
        <p:spPr>
          <a:xfrm>
            <a:off x="8997696"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2</a:t>
            </a:r>
          </a:p>
        </p:txBody>
      </p:sp>
      <p:pic>
        <p:nvPicPr>
          <p:cNvPr id="17" name="Picture 16" descr="seed40_feature3530_strength2.png"/>
          <p:cNvPicPr>
            <a:picLocks noChangeAspect="1"/>
          </p:cNvPicPr>
          <p:nvPr/>
        </p:nvPicPr>
        <p:blipFill>
          <a:blip r:embed="rId6"/>
          <a:stretch>
            <a:fillRect/>
          </a:stretch>
        </p:blipFill>
        <p:spPr>
          <a:xfrm>
            <a:off x="9317736" y="2523744"/>
            <a:ext cx="1536192" cy="1536192"/>
          </a:xfrm>
          <a:prstGeom prst="rect">
            <a:avLst/>
          </a:prstGeom>
        </p:spPr>
      </p:pic>
      <p:sp>
        <p:nvSpPr>
          <p:cNvPr id="18" name="TextBox 17"/>
          <p:cNvSpPr txBox="1"/>
          <p:nvPr/>
        </p:nvSpPr>
        <p:spPr>
          <a:xfrm>
            <a:off x="731520" y="4882896"/>
            <a:ext cx="658368" cy="411480"/>
          </a:xfrm>
          <a:prstGeom prst="rect">
            <a:avLst/>
          </a:prstGeom>
          <a:noFill/>
        </p:spPr>
        <p:txBody>
          <a:bodyPr wrap="square" lIns="18288" rIns="18288" tIns="9144" bIns="9144">
            <a:spAutoFit/>
          </a:bodyPr>
          <a:lstStyle/>
          <a:p>
            <a:pPr>
              <a:spcAft>
                <a:spcPts val="800"/>
              </a:spcAft>
              <a:defRPr sz="1200" b="1">
                <a:solidFill>
                  <a:srgbClr val="59697A"/>
                </a:solidFill>
                <a:latin typeface="DejaVu Sans"/>
              </a:defRPr>
            </a:pPr>
            <a:r>
              <a:t>Seed 42</a:t>
            </a:r>
          </a:p>
        </p:txBody>
      </p:sp>
      <p:sp>
        <p:nvSpPr>
          <p:cNvPr id="19" name="TextBox 18"/>
          <p:cNvSpPr txBox="1"/>
          <p:nvPr/>
        </p:nvSpPr>
        <p:spPr>
          <a:xfrm>
            <a:off x="1481328"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Original</a:t>
            </a:r>
          </a:p>
        </p:txBody>
      </p:sp>
      <p:pic>
        <p:nvPicPr>
          <p:cNvPr id="20" name="Picture 19" descr="seed42_original.png"/>
          <p:cNvPicPr>
            <a:picLocks noChangeAspect="1"/>
          </p:cNvPicPr>
          <p:nvPr/>
        </p:nvPicPr>
        <p:blipFill>
          <a:blip r:embed="rId7"/>
          <a:stretch>
            <a:fillRect/>
          </a:stretch>
        </p:blipFill>
        <p:spPr>
          <a:xfrm>
            <a:off x="1801368" y="4462272"/>
            <a:ext cx="1536192" cy="1536192"/>
          </a:xfrm>
          <a:prstGeom prst="rect">
            <a:avLst/>
          </a:prstGeom>
        </p:spPr>
      </p:pic>
      <p:sp>
        <p:nvSpPr>
          <p:cNvPr id="21" name="TextBox 20"/>
          <p:cNvSpPr txBox="1"/>
          <p:nvPr/>
        </p:nvSpPr>
        <p:spPr>
          <a:xfrm>
            <a:off x="3986784"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Activation map</a:t>
            </a:r>
          </a:p>
        </p:txBody>
      </p:sp>
      <p:pic>
        <p:nvPicPr>
          <p:cNvPr id="22" name="Picture 21" descr="seed42_feature3530_heatmap.png"/>
          <p:cNvPicPr>
            <a:picLocks noChangeAspect="1"/>
          </p:cNvPicPr>
          <p:nvPr/>
        </p:nvPicPr>
        <p:blipFill>
          <a:blip r:embed="rId8"/>
          <a:stretch>
            <a:fillRect/>
          </a:stretch>
        </p:blipFill>
        <p:spPr>
          <a:xfrm>
            <a:off x="4306824" y="4462272"/>
            <a:ext cx="1536192" cy="1536192"/>
          </a:xfrm>
          <a:prstGeom prst="rect">
            <a:avLst/>
          </a:prstGeom>
        </p:spPr>
      </p:pic>
      <p:sp>
        <p:nvSpPr>
          <p:cNvPr id="23" name="TextBox 22"/>
          <p:cNvSpPr txBox="1"/>
          <p:nvPr/>
        </p:nvSpPr>
        <p:spPr>
          <a:xfrm>
            <a:off x="6492240"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0</a:t>
            </a:r>
          </a:p>
        </p:txBody>
      </p:sp>
      <p:pic>
        <p:nvPicPr>
          <p:cNvPr id="24" name="Picture 23" descr="seed42_feature3530_strength0.png"/>
          <p:cNvPicPr>
            <a:picLocks noChangeAspect="1"/>
          </p:cNvPicPr>
          <p:nvPr/>
        </p:nvPicPr>
        <p:blipFill>
          <a:blip r:embed="rId9"/>
          <a:stretch>
            <a:fillRect/>
          </a:stretch>
        </p:blipFill>
        <p:spPr>
          <a:xfrm>
            <a:off x="6812280" y="4462272"/>
            <a:ext cx="1536192" cy="1536192"/>
          </a:xfrm>
          <a:prstGeom prst="rect">
            <a:avLst/>
          </a:prstGeom>
        </p:spPr>
      </p:pic>
      <p:sp>
        <p:nvSpPr>
          <p:cNvPr id="25" name="TextBox 24"/>
          <p:cNvSpPr txBox="1"/>
          <p:nvPr/>
        </p:nvSpPr>
        <p:spPr>
          <a:xfrm>
            <a:off x="8997696"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2</a:t>
            </a:r>
          </a:p>
        </p:txBody>
      </p:sp>
      <p:pic>
        <p:nvPicPr>
          <p:cNvPr id="26" name="Picture 25" descr="seed42_feature3530_strength2.png"/>
          <p:cNvPicPr>
            <a:picLocks noChangeAspect="1"/>
          </p:cNvPicPr>
          <p:nvPr/>
        </p:nvPicPr>
        <p:blipFill>
          <a:blip r:embed="rId10"/>
          <a:stretch>
            <a:fillRect/>
          </a:stretch>
        </p:blipFill>
        <p:spPr>
          <a:xfrm>
            <a:off x="9317736" y="4462272"/>
            <a:ext cx="1536192" cy="153619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VISUAL INTERVENTION</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550" b="1">
                <a:solidFill>
                  <a:srgbClr val="152B42"/>
                </a:solidFill>
                <a:latin typeface="DejaVu Sans"/>
              </a:defRPr>
            </a:pPr>
            <a:r>
              <a:t>Feature 527 changes depiction, not an evaluated bias score</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Black man prompts; changes include texture/contrast and pose or crop at some settings.</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12</a:t>
            </a:r>
          </a:p>
        </p:txBody>
      </p:sp>
      <p:sp>
        <p:nvSpPr>
          <p:cNvPr id="9" name="TextBox 8"/>
          <p:cNvSpPr txBox="1"/>
          <p:nvPr/>
        </p:nvSpPr>
        <p:spPr>
          <a:xfrm>
            <a:off x="731520" y="2944368"/>
            <a:ext cx="658368" cy="411480"/>
          </a:xfrm>
          <a:prstGeom prst="rect">
            <a:avLst/>
          </a:prstGeom>
          <a:noFill/>
        </p:spPr>
        <p:txBody>
          <a:bodyPr wrap="square" lIns="18288" rIns="18288" tIns="9144" bIns="9144">
            <a:spAutoFit/>
          </a:bodyPr>
          <a:lstStyle/>
          <a:p>
            <a:pPr>
              <a:spcAft>
                <a:spcPts val="800"/>
              </a:spcAft>
              <a:defRPr sz="1200" b="1">
                <a:solidFill>
                  <a:srgbClr val="59697A"/>
                </a:solidFill>
                <a:latin typeface="DejaVu Sans"/>
              </a:defRPr>
            </a:pPr>
            <a:r>
              <a:t>Seed 40</a:t>
            </a:r>
          </a:p>
        </p:txBody>
      </p:sp>
      <p:sp>
        <p:nvSpPr>
          <p:cNvPr id="10" name="TextBox 9"/>
          <p:cNvSpPr txBox="1"/>
          <p:nvPr/>
        </p:nvSpPr>
        <p:spPr>
          <a:xfrm>
            <a:off x="1481328"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Original</a:t>
            </a:r>
          </a:p>
        </p:txBody>
      </p:sp>
      <p:pic>
        <p:nvPicPr>
          <p:cNvPr id="11" name="Picture 10" descr="baseline40.png"/>
          <p:cNvPicPr>
            <a:picLocks noChangeAspect="1"/>
          </p:cNvPicPr>
          <p:nvPr/>
        </p:nvPicPr>
        <p:blipFill>
          <a:blip r:embed="rId3"/>
          <a:stretch>
            <a:fillRect/>
          </a:stretch>
        </p:blipFill>
        <p:spPr>
          <a:xfrm>
            <a:off x="1801368" y="2523744"/>
            <a:ext cx="1536192" cy="1536192"/>
          </a:xfrm>
          <a:prstGeom prst="rect">
            <a:avLst/>
          </a:prstGeom>
        </p:spPr>
      </p:pic>
      <p:sp>
        <p:nvSpPr>
          <p:cNvPr id="12" name="TextBox 11"/>
          <p:cNvSpPr txBox="1"/>
          <p:nvPr/>
        </p:nvSpPr>
        <p:spPr>
          <a:xfrm>
            <a:off x="3986784"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Activation map</a:t>
            </a:r>
          </a:p>
        </p:txBody>
      </p:sp>
      <p:pic>
        <p:nvPicPr>
          <p:cNvPr id="13" name="Picture 12" descr="seed40_feature527_heatmap.png"/>
          <p:cNvPicPr>
            <a:picLocks noChangeAspect="1"/>
          </p:cNvPicPr>
          <p:nvPr/>
        </p:nvPicPr>
        <p:blipFill>
          <a:blip r:embed="rId4"/>
          <a:stretch>
            <a:fillRect/>
          </a:stretch>
        </p:blipFill>
        <p:spPr>
          <a:xfrm>
            <a:off x="4306824" y="2523744"/>
            <a:ext cx="1536192" cy="1536192"/>
          </a:xfrm>
          <a:prstGeom prst="rect">
            <a:avLst/>
          </a:prstGeom>
        </p:spPr>
      </p:pic>
      <p:sp>
        <p:nvSpPr>
          <p:cNvPr id="14" name="TextBox 13"/>
          <p:cNvSpPr txBox="1"/>
          <p:nvPr/>
        </p:nvSpPr>
        <p:spPr>
          <a:xfrm>
            <a:off x="6492240"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0</a:t>
            </a:r>
          </a:p>
        </p:txBody>
      </p:sp>
      <p:pic>
        <p:nvPicPr>
          <p:cNvPr id="15" name="Picture 14" descr="seed40_feature527_strength0.png"/>
          <p:cNvPicPr>
            <a:picLocks noChangeAspect="1"/>
          </p:cNvPicPr>
          <p:nvPr/>
        </p:nvPicPr>
        <p:blipFill>
          <a:blip r:embed="rId5"/>
          <a:stretch>
            <a:fillRect/>
          </a:stretch>
        </p:blipFill>
        <p:spPr>
          <a:xfrm>
            <a:off x="6812280" y="2523744"/>
            <a:ext cx="1536192" cy="1536192"/>
          </a:xfrm>
          <a:prstGeom prst="rect">
            <a:avLst/>
          </a:prstGeom>
        </p:spPr>
      </p:pic>
      <p:sp>
        <p:nvSpPr>
          <p:cNvPr id="16" name="TextBox 15"/>
          <p:cNvSpPr txBox="1"/>
          <p:nvPr/>
        </p:nvSpPr>
        <p:spPr>
          <a:xfrm>
            <a:off x="8997696" y="2176272"/>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2</a:t>
            </a:r>
          </a:p>
        </p:txBody>
      </p:sp>
      <p:pic>
        <p:nvPicPr>
          <p:cNvPr id="17" name="Picture 16" descr="seed40_feature527_strength2.png"/>
          <p:cNvPicPr>
            <a:picLocks noChangeAspect="1"/>
          </p:cNvPicPr>
          <p:nvPr/>
        </p:nvPicPr>
        <p:blipFill>
          <a:blip r:embed="rId6"/>
          <a:stretch>
            <a:fillRect/>
          </a:stretch>
        </p:blipFill>
        <p:spPr>
          <a:xfrm>
            <a:off x="9317736" y="2523744"/>
            <a:ext cx="1536192" cy="1536192"/>
          </a:xfrm>
          <a:prstGeom prst="rect">
            <a:avLst/>
          </a:prstGeom>
        </p:spPr>
      </p:pic>
      <p:sp>
        <p:nvSpPr>
          <p:cNvPr id="18" name="TextBox 17"/>
          <p:cNvSpPr txBox="1"/>
          <p:nvPr/>
        </p:nvSpPr>
        <p:spPr>
          <a:xfrm>
            <a:off x="731520" y="4882896"/>
            <a:ext cx="658368" cy="411480"/>
          </a:xfrm>
          <a:prstGeom prst="rect">
            <a:avLst/>
          </a:prstGeom>
          <a:noFill/>
        </p:spPr>
        <p:txBody>
          <a:bodyPr wrap="square" lIns="18288" rIns="18288" tIns="9144" bIns="9144">
            <a:spAutoFit/>
          </a:bodyPr>
          <a:lstStyle/>
          <a:p>
            <a:pPr>
              <a:spcAft>
                <a:spcPts val="800"/>
              </a:spcAft>
              <a:defRPr sz="1200" b="1">
                <a:solidFill>
                  <a:srgbClr val="59697A"/>
                </a:solidFill>
                <a:latin typeface="DejaVu Sans"/>
              </a:defRPr>
            </a:pPr>
            <a:r>
              <a:t>Seed 42</a:t>
            </a:r>
          </a:p>
        </p:txBody>
      </p:sp>
      <p:sp>
        <p:nvSpPr>
          <p:cNvPr id="19" name="TextBox 18"/>
          <p:cNvSpPr txBox="1"/>
          <p:nvPr/>
        </p:nvSpPr>
        <p:spPr>
          <a:xfrm>
            <a:off x="1481328"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Original</a:t>
            </a:r>
          </a:p>
        </p:txBody>
      </p:sp>
      <p:pic>
        <p:nvPicPr>
          <p:cNvPr id="20" name="Picture 19" descr="seed42_original.png"/>
          <p:cNvPicPr>
            <a:picLocks noChangeAspect="1"/>
          </p:cNvPicPr>
          <p:nvPr/>
        </p:nvPicPr>
        <p:blipFill>
          <a:blip r:embed="rId7"/>
          <a:stretch>
            <a:fillRect/>
          </a:stretch>
        </p:blipFill>
        <p:spPr>
          <a:xfrm>
            <a:off x="1801368" y="4462272"/>
            <a:ext cx="1536192" cy="1536192"/>
          </a:xfrm>
          <a:prstGeom prst="rect">
            <a:avLst/>
          </a:prstGeom>
        </p:spPr>
      </p:pic>
      <p:sp>
        <p:nvSpPr>
          <p:cNvPr id="21" name="TextBox 20"/>
          <p:cNvSpPr txBox="1"/>
          <p:nvPr/>
        </p:nvSpPr>
        <p:spPr>
          <a:xfrm>
            <a:off x="3986784"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Activation map</a:t>
            </a:r>
          </a:p>
        </p:txBody>
      </p:sp>
      <p:pic>
        <p:nvPicPr>
          <p:cNvPr id="22" name="Picture 21" descr="seed42_feature527_heatmap.png"/>
          <p:cNvPicPr>
            <a:picLocks noChangeAspect="1"/>
          </p:cNvPicPr>
          <p:nvPr/>
        </p:nvPicPr>
        <p:blipFill>
          <a:blip r:embed="rId8"/>
          <a:stretch>
            <a:fillRect/>
          </a:stretch>
        </p:blipFill>
        <p:spPr>
          <a:xfrm>
            <a:off x="4306824" y="4462272"/>
            <a:ext cx="1536192" cy="1536192"/>
          </a:xfrm>
          <a:prstGeom prst="rect">
            <a:avLst/>
          </a:prstGeom>
        </p:spPr>
      </p:pic>
      <p:sp>
        <p:nvSpPr>
          <p:cNvPr id="23" name="TextBox 22"/>
          <p:cNvSpPr txBox="1"/>
          <p:nvPr/>
        </p:nvSpPr>
        <p:spPr>
          <a:xfrm>
            <a:off x="6492240"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0</a:t>
            </a:r>
          </a:p>
        </p:txBody>
      </p:sp>
      <p:pic>
        <p:nvPicPr>
          <p:cNvPr id="24" name="Picture 23" descr="seed42_feature527_strength0.png"/>
          <p:cNvPicPr>
            <a:picLocks noChangeAspect="1"/>
          </p:cNvPicPr>
          <p:nvPr/>
        </p:nvPicPr>
        <p:blipFill>
          <a:blip r:embed="rId9"/>
          <a:stretch>
            <a:fillRect/>
          </a:stretch>
        </p:blipFill>
        <p:spPr>
          <a:xfrm>
            <a:off x="6812280" y="4462272"/>
            <a:ext cx="1536192" cy="1536192"/>
          </a:xfrm>
          <a:prstGeom prst="rect">
            <a:avLst/>
          </a:prstGeom>
        </p:spPr>
      </p:pic>
      <p:sp>
        <p:nvSpPr>
          <p:cNvPr id="25" name="TextBox 24"/>
          <p:cNvSpPr txBox="1"/>
          <p:nvPr/>
        </p:nvSpPr>
        <p:spPr>
          <a:xfrm>
            <a:off x="8997696" y="4114800"/>
            <a:ext cx="2194560" cy="274320"/>
          </a:xfrm>
          <a:prstGeom prst="rect">
            <a:avLst/>
          </a:prstGeom>
          <a:noFill/>
        </p:spPr>
        <p:txBody>
          <a:bodyPr wrap="square" lIns="18288" rIns="18288" tIns="9144" bIns="9144">
            <a:spAutoFit/>
          </a:bodyPr>
          <a:lstStyle/>
          <a:p>
            <a:pPr>
              <a:spcAft>
                <a:spcPts val="800"/>
              </a:spcAft>
              <a:defRPr sz="1200" b="1">
                <a:solidFill>
                  <a:srgbClr val="087E8B"/>
                </a:solidFill>
                <a:latin typeface="DejaVu Sans"/>
              </a:defRPr>
            </a:pPr>
            <a:r>
              <a:t>Strength 2</a:t>
            </a:r>
          </a:p>
        </p:txBody>
      </p:sp>
      <p:pic>
        <p:nvPicPr>
          <p:cNvPr id="26" name="Picture 25" descr="seed42_feature527_strength2.png"/>
          <p:cNvPicPr>
            <a:picLocks noChangeAspect="1"/>
          </p:cNvPicPr>
          <p:nvPr/>
        </p:nvPicPr>
        <p:blipFill>
          <a:blip r:embed="rId10"/>
          <a:stretch>
            <a:fillRect/>
          </a:stretch>
        </p:blipFill>
        <p:spPr>
          <a:xfrm>
            <a:off x="9317736" y="4462272"/>
            <a:ext cx="1536192" cy="153619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MEASURED IMAGE EFFECTS</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800" b="1">
                <a:solidFill>
                  <a:srgbClr val="152B42"/>
                </a:solidFill>
                <a:latin typeface="DejaVu Sans"/>
              </a:defRPr>
            </a:pPr>
            <a:r>
              <a:t>Intervention magnitude varies across prompt groups</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Mean absolute RGB pixel change at strength 0; averaged over both genders and three seeds.</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13</a:t>
            </a:r>
          </a:p>
        </p:txBody>
      </p:sp>
      <p:sp>
        <p:nvSpPr>
          <p:cNvPr id="9" name="TextBox 8"/>
          <p:cNvSpPr txBox="1"/>
          <p:nvPr/>
        </p:nvSpPr>
        <p:spPr>
          <a:xfrm>
            <a:off x="868680" y="2331720"/>
            <a:ext cx="3200400" cy="411480"/>
          </a:xfrm>
          <a:prstGeom prst="rect">
            <a:avLst/>
          </a:prstGeom>
          <a:noFill/>
        </p:spPr>
        <p:txBody>
          <a:bodyPr wrap="square" lIns="18288" rIns="18288" tIns="9144" bIns="9144">
            <a:spAutoFit/>
          </a:bodyPr>
          <a:lstStyle/>
          <a:p>
            <a:pPr>
              <a:spcAft>
                <a:spcPts val="800"/>
              </a:spcAft>
              <a:defRPr sz="1700" b="1">
                <a:solidFill>
                  <a:srgbClr val="152B42"/>
                </a:solidFill>
                <a:latin typeface="DejaVu Sans"/>
              </a:defRPr>
            </a:pPr>
            <a:r>
              <a:t>Prompt group</a:t>
            </a:r>
          </a:p>
        </p:txBody>
      </p:sp>
      <p:sp>
        <p:nvSpPr>
          <p:cNvPr id="10" name="TextBox 9"/>
          <p:cNvSpPr txBox="1"/>
          <p:nvPr/>
        </p:nvSpPr>
        <p:spPr>
          <a:xfrm>
            <a:off x="4069080" y="2331720"/>
            <a:ext cx="2103120" cy="411480"/>
          </a:xfrm>
          <a:prstGeom prst="rect">
            <a:avLst/>
          </a:prstGeom>
          <a:noFill/>
        </p:spPr>
        <p:txBody>
          <a:bodyPr wrap="square" lIns="18288" rIns="18288" tIns="9144" bIns="9144">
            <a:spAutoFit/>
          </a:bodyPr>
          <a:lstStyle/>
          <a:p>
            <a:pPr>
              <a:spcAft>
                <a:spcPts val="800"/>
              </a:spcAft>
              <a:defRPr sz="1700" b="1">
                <a:solidFill>
                  <a:srgbClr val="087E8B"/>
                </a:solidFill>
                <a:latin typeface="DejaVu Sans"/>
              </a:defRPr>
            </a:pPr>
            <a:r>
              <a:t>Feature 138</a:t>
            </a:r>
          </a:p>
        </p:txBody>
      </p:sp>
      <p:sp>
        <p:nvSpPr>
          <p:cNvPr id="11" name="TextBox 10"/>
          <p:cNvSpPr txBox="1"/>
          <p:nvPr/>
        </p:nvSpPr>
        <p:spPr>
          <a:xfrm>
            <a:off x="6492240" y="2331720"/>
            <a:ext cx="2103120" cy="411480"/>
          </a:xfrm>
          <a:prstGeom prst="rect">
            <a:avLst/>
          </a:prstGeom>
          <a:noFill/>
        </p:spPr>
        <p:txBody>
          <a:bodyPr wrap="square" lIns="18288" rIns="18288" tIns="9144" bIns="9144">
            <a:spAutoFit/>
          </a:bodyPr>
          <a:lstStyle/>
          <a:p>
            <a:pPr>
              <a:spcAft>
                <a:spcPts val="800"/>
              </a:spcAft>
              <a:defRPr sz="1700" b="1">
                <a:solidFill>
                  <a:srgbClr val="087E8B"/>
                </a:solidFill>
                <a:latin typeface="DejaVu Sans"/>
              </a:defRPr>
            </a:pPr>
            <a:r>
              <a:t>Feature 527</a:t>
            </a:r>
          </a:p>
        </p:txBody>
      </p:sp>
      <p:sp>
        <p:nvSpPr>
          <p:cNvPr id="12" name="TextBox 11"/>
          <p:cNvSpPr txBox="1"/>
          <p:nvPr/>
        </p:nvSpPr>
        <p:spPr>
          <a:xfrm>
            <a:off x="8915400" y="2331720"/>
            <a:ext cx="2103120" cy="411480"/>
          </a:xfrm>
          <a:prstGeom prst="rect">
            <a:avLst/>
          </a:prstGeom>
          <a:noFill/>
        </p:spPr>
        <p:txBody>
          <a:bodyPr wrap="square" lIns="18288" rIns="18288" tIns="9144" bIns="9144">
            <a:spAutoFit/>
          </a:bodyPr>
          <a:lstStyle/>
          <a:p>
            <a:pPr>
              <a:spcAft>
                <a:spcPts val="800"/>
              </a:spcAft>
              <a:defRPr sz="1700" b="1">
                <a:solidFill>
                  <a:srgbClr val="087E8B"/>
                </a:solidFill>
                <a:latin typeface="DejaVu Sans"/>
              </a:defRPr>
            </a:pPr>
            <a:r>
              <a:t>Feature 3530</a:t>
            </a:r>
          </a:p>
        </p:txBody>
      </p:sp>
      <p:sp>
        <p:nvSpPr>
          <p:cNvPr id="13" name="TextBox 12"/>
          <p:cNvSpPr txBox="1"/>
          <p:nvPr/>
        </p:nvSpPr>
        <p:spPr>
          <a:xfrm>
            <a:off x="868680" y="2880360"/>
            <a:ext cx="2926080" cy="347472"/>
          </a:xfrm>
          <a:prstGeom prst="rect">
            <a:avLst/>
          </a:prstGeom>
          <a:noFill/>
        </p:spPr>
        <p:txBody>
          <a:bodyPr wrap="square" lIns="18288" rIns="18288" tIns="9144" bIns="9144">
            <a:spAutoFit/>
          </a:bodyPr>
          <a:lstStyle/>
          <a:p>
            <a:pPr>
              <a:spcAft>
                <a:spcPts val="800"/>
              </a:spcAft>
              <a:defRPr sz="1600" b="0">
                <a:solidFill>
                  <a:srgbClr val="152B42"/>
                </a:solidFill>
                <a:latin typeface="DejaVu Sans"/>
              </a:defRPr>
            </a:pPr>
            <a:r>
              <a:t>Black</a:t>
            </a:r>
          </a:p>
        </p:txBody>
      </p:sp>
      <p:sp>
        <p:nvSpPr>
          <p:cNvPr id="14" name="Rectangle 13"/>
          <p:cNvSpPr/>
          <p:nvPr/>
        </p:nvSpPr>
        <p:spPr>
          <a:xfrm>
            <a:off x="3995928" y="2862072"/>
            <a:ext cx="2011680" cy="374904"/>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2880360"/>
            <a:ext cx="1828800" cy="34747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0.00</a:t>
            </a:r>
          </a:p>
        </p:txBody>
      </p:sp>
      <p:sp>
        <p:nvSpPr>
          <p:cNvPr id="16" name="Rectangle 15"/>
          <p:cNvSpPr/>
          <p:nvPr/>
        </p:nvSpPr>
        <p:spPr>
          <a:xfrm>
            <a:off x="6419088" y="2862072"/>
            <a:ext cx="2011680" cy="374904"/>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880360"/>
            <a:ext cx="1828800" cy="347472"/>
          </a:xfrm>
          <a:prstGeom prst="rect">
            <a:avLst/>
          </a:prstGeom>
          <a:noFill/>
        </p:spPr>
        <p:txBody>
          <a:bodyPr wrap="square" lIns="18288" rIns="18288" tIns="9144" bIns="9144">
            <a:spAutoFit/>
          </a:bodyPr>
          <a:lstStyle/>
          <a:p>
            <a:pPr>
              <a:spcAft>
                <a:spcPts val="800"/>
              </a:spcAft>
              <a:defRPr sz="1600" b="1">
                <a:solidFill>
                  <a:srgbClr val="087E8B"/>
                </a:solidFill>
                <a:latin typeface="DejaVu Sans"/>
              </a:defRPr>
            </a:pPr>
            <a:r>
              <a:t>7.27</a:t>
            </a:r>
          </a:p>
        </p:txBody>
      </p:sp>
      <p:sp>
        <p:nvSpPr>
          <p:cNvPr id="18" name="Rectangle 17"/>
          <p:cNvSpPr/>
          <p:nvPr/>
        </p:nvSpPr>
        <p:spPr>
          <a:xfrm>
            <a:off x="8842248" y="2862072"/>
            <a:ext cx="2011680" cy="374904"/>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2880360"/>
            <a:ext cx="1828800" cy="34747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0.00</a:t>
            </a:r>
          </a:p>
        </p:txBody>
      </p:sp>
      <p:sp>
        <p:nvSpPr>
          <p:cNvPr id="20" name="TextBox 19"/>
          <p:cNvSpPr txBox="1"/>
          <p:nvPr/>
        </p:nvSpPr>
        <p:spPr>
          <a:xfrm>
            <a:off x="868680" y="3310128"/>
            <a:ext cx="2926080" cy="347472"/>
          </a:xfrm>
          <a:prstGeom prst="rect">
            <a:avLst/>
          </a:prstGeom>
          <a:noFill/>
        </p:spPr>
        <p:txBody>
          <a:bodyPr wrap="square" lIns="18288" rIns="18288" tIns="9144" bIns="9144">
            <a:spAutoFit/>
          </a:bodyPr>
          <a:lstStyle/>
          <a:p>
            <a:pPr>
              <a:spcAft>
                <a:spcPts val="800"/>
              </a:spcAft>
              <a:defRPr sz="1600" b="0">
                <a:solidFill>
                  <a:srgbClr val="152B42"/>
                </a:solidFill>
                <a:latin typeface="DejaVu Sans"/>
              </a:defRPr>
            </a:pPr>
            <a:r>
              <a:t>White</a:t>
            </a:r>
          </a:p>
        </p:txBody>
      </p:sp>
      <p:sp>
        <p:nvSpPr>
          <p:cNvPr id="21" name="Rectangle 20"/>
          <p:cNvSpPr/>
          <p:nvPr/>
        </p:nvSpPr>
        <p:spPr>
          <a:xfrm>
            <a:off x="3995928" y="3291840"/>
            <a:ext cx="2011680" cy="374904"/>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69080" y="3310128"/>
            <a:ext cx="1828800" cy="34747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0.00</a:t>
            </a:r>
          </a:p>
        </p:txBody>
      </p:sp>
      <p:sp>
        <p:nvSpPr>
          <p:cNvPr id="23" name="Rectangle 22"/>
          <p:cNvSpPr/>
          <p:nvPr/>
        </p:nvSpPr>
        <p:spPr>
          <a:xfrm>
            <a:off x="6419088" y="3291840"/>
            <a:ext cx="2011680" cy="374904"/>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310128"/>
            <a:ext cx="1828800" cy="34747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0.00</a:t>
            </a:r>
          </a:p>
        </p:txBody>
      </p:sp>
      <p:sp>
        <p:nvSpPr>
          <p:cNvPr id="25" name="Rectangle 24"/>
          <p:cNvSpPr/>
          <p:nvPr/>
        </p:nvSpPr>
        <p:spPr>
          <a:xfrm>
            <a:off x="8842248" y="3291840"/>
            <a:ext cx="2011680" cy="374904"/>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15400" y="3310128"/>
            <a:ext cx="1828800" cy="34747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0.00</a:t>
            </a:r>
          </a:p>
        </p:txBody>
      </p:sp>
      <p:sp>
        <p:nvSpPr>
          <p:cNvPr id="27" name="TextBox 26"/>
          <p:cNvSpPr txBox="1"/>
          <p:nvPr/>
        </p:nvSpPr>
        <p:spPr>
          <a:xfrm>
            <a:off x="868680" y="3739896"/>
            <a:ext cx="2926080" cy="347472"/>
          </a:xfrm>
          <a:prstGeom prst="rect">
            <a:avLst/>
          </a:prstGeom>
          <a:noFill/>
        </p:spPr>
        <p:txBody>
          <a:bodyPr wrap="square" lIns="18288" rIns="18288" tIns="9144" bIns="9144">
            <a:spAutoFit/>
          </a:bodyPr>
          <a:lstStyle/>
          <a:p>
            <a:pPr>
              <a:spcAft>
                <a:spcPts val="800"/>
              </a:spcAft>
              <a:defRPr sz="1600" b="0">
                <a:solidFill>
                  <a:srgbClr val="152B42"/>
                </a:solidFill>
                <a:latin typeface="DejaVu Sans"/>
              </a:defRPr>
            </a:pPr>
            <a:r>
              <a:t>East Asian</a:t>
            </a:r>
          </a:p>
        </p:txBody>
      </p:sp>
      <p:sp>
        <p:nvSpPr>
          <p:cNvPr id="28" name="Rectangle 27"/>
          <p:cNvSpPr/>
          <p:nvPr/>
        </p:nvSpPr>
        <p:spPr>
          <a:xfrm>
            <a:off x="3995928" y="3721608"/>
            <a:ext cx="2011680" cy="374904"/>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69080" y="3739896"/>
            <a:ext cx="1828800" cy="34747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0.00</a:t>
            </a:r>
          </a:p>
        </p:txBody>
      </p:sp>
      <p:sp>
        <p:nvSpPr>
          <p:cNvPr id="30" name="Rectangle 29"/>
          <p:cNvSpPr/>
          <p:nvPr/>
        </p:nvSpPr>
        <p:spPr>
          <a:xfrm>
            <a:off x="6419088" y="3721608"/>
            <a:ext cx="2011680" cy="374904"/>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3739896"/>
            <a:ext cx="1828800" cy="347472"/>
          </a:xfrm>
          <a:prstGeom prst="rect">
            <a:avLst/>
          </a:prstGeom>
          <a:noFill/>
        </p:spPr>
        <p:txBody>
          <a:bodyPr wrap="square" lIns="18288" rIns="18288" tIns="9144" bIns="9144">
            <a:spAutoFit/>
          </a:bodyPr>
          <a:lstStyle/>
          <a:p>
            <a:pPr>
              <a:spcAft>
                <a:spcPts val="800"/>
              </a:spcAft>
              <a:defRPr sz="1600" b="1">
                <a:solidFill>
                  <a:srgbClr val="087E8B"/>
                </a:solidFill>
                <a:latin typeface="DejaVu Sans"/>
              </a:defRPr>
            </a:pPr>
            <a:r>
              <a:t>0.07</a:t>
            </a:r>
          </a:p>
        </p:txBody>
      </p:sp>
      <p:sp>
        <p:nvSpPr>
          <p:cNvPr id="32" name="Rectangle 31"/>
          <p:cNvSpPr/>
          <p:nvPr/>
        </p:nvSpPr>
        <p:spPr>
          <a:xfrm>
            <a:off x="8842248" y="3721608"/>
            <a:ext cx="2011680" cy="374904"/>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39896"/>
            <a:ext cx="1828800" cy="34747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0.00</a:t>
            </a:r>
          </a:p>
        </p:txBody>
      </p:sp>
      <p:sp>
        <p:nvSpPr>
          <p:cNvPr id="34" name="TextBox 33"/>
          <p:cNvSpPr txBox="1"/>
          <p:nvPr/>
        </p:nvSpPr>
        <p:spPr>
          <a:xfrm>
            <a:off x="868680" y="4169663"/>
            <a:ext cx="2926080" cy="347472"/>
          </a:xfrm>
          <a:prstGeom prst="rect">
            <a:avLst/>
          </a:prstGeom>
          <a:noFill/>
        </p:spPr>
        <p:txBody>
          <a:bodyPr wrap="square" lIns="18288" rIns="18288" tIns="9144" bIns="9144">
            <a:spAutoFit/>
          </a:bodyPr>
          <a:lstStyle/>
          <a:p>
            <a:pPr>
              <a:spcAft>
                <a:spcPts val="800"/>
              </a:spcAft>
              <a:defRPr sz="1600" b="0">
                <a:solidFill>
                  <a:srgbClr val="152B42"/>
                </a:solidFill>
                <a:latin typeface="DejaVu Sans"/>
              </a:defRPr>
            </a:pPr>
            <a:r>
              <a:t>Middle Eastern</a:t>
            </a:r>
          </a:p>
        </p:txBody>
      </p:sp>
      <p:sp>
        <p:nvSpPr>
          <p:cNvPr id="35" name="Rectangle 34"/>
          <p:cNvSpPr/>
          <p:nvPr/>
        </p:nvSpPr>
        <p:spPr>
          <a:xfrm>
            <a:off x="3995928" y="4151376"/>
            <a:ext cx="2011680" cy="374904"/>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69080" y="4169663"/>
            <a:ext cx="1828800" cy="347472"/>
          </a:xfrm>
          <a:prstGeom prst="rect">
            <a:avLst/>
          </a:prstGeom>
          <a:noFill/>
        </p:spPr>
        <p:txBody>
          <a:bodyPr wrap="square" lIns="18288" rIns="18288" tIns="9144" bIns="9144">
            <a:spAutoFit/>
          </a:bodyPr>
          <a:lstStyle/>
          <a:p>
            <a:pPr>
              <a:spcAft>
                <a:spcPts val="800"/>
              </a:spcAft>
              <a:defRPr sz="1600" b="1">
                <a:solidFill>
                  <a:srgbClr val="087E8B"/>
                </a:solidFill>
                <a:latin typeface="DejaVu Sans"/>
              </a:defRPr>
            </a:pPr>
            <a:r>
              <a:t>4.60</a:t>
            </a:r>
          </a:p>
        </p:txBody>
      </p:sp>
      <p:sp>
        <p:nvSpPr>
          <p:cNvPr id="37" name="Rectangle 36"/>
          <p:cNvSpPr/>
          <p:nvPr/>
        </p:nvSpPr>
        <p:spPr>
          <a:xfrm>
            <a:off x="6419088" y="4151376"/>
            <a:ext cx="2011680" cy="374904"/>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2240" y="4169663"/>
            <a:ext cx="1828800" cy="347472"/>
          </a:xfrm>
          <a:prstGeom prst="rect">
            <a:avLst/>
          </a:prstGeom>
          <a:noFill/>
        </p:spPr>
        <p:txBody>
          <a:bodyPr wrap="square" lIns="18288" rIns="18288" tIns="9144" bIns="9144">
            <a:spAutoFit/>
          </a:bodyPr>
          <a:lstStyle/>
          <a:p>
            <a:pPr>
              <a:spcAft>
                <a:spcPts val="800"/>
              </a:spcAft>
              <a:defRPr sz="1600" b="1">
                <a:solidFill>
                  <a:srgbClr val="087E8B"/>
                </a:solidFill>
                <a:latin typeface="DejaVu Sans"/>
              </a:defRPr>
            </a:pPr>
            <a:r>
              <a:t>1.42</a:t>
            </a:r>
          </a:p>
        </p:txBody>
      </p:sp>
      <p:sp>
        <p:nvSpPr>
          <p:cNvPr id="39" name="Rectangle 38"/>
          <p:cNvSpPr/>
          <p:nvPr/>
        </p:nvSpPr>
        <p:spPr>
          <a:xfrm>
            <a:off x="8842248" y="4151376"/>
            <a:ext cx="2011680" cy="374904"/>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15400" y="4169663"/>
            <a:ext cx="1828800" cy="347472"/>
          </a:xfrm>
          <a:prstGeom prst="rect">
            <a:avLst/>
          </a:prstGeom>
          <a:noFill/>
        </p:spPr>
        <p:txBody>
          <a:bodyPr wrap="square" lIns="18288" rIns="18288" tIns="9144" bIns="9144">
            <a:spAutoFit/>
          </a:bodyPr>
          <a:lstStyle/>
          <a:p>
            <a:pPr>
              <a:spcAft>
                <a:spcPts val="800"/>
              </a:spcAft>
              <a:defRPr sz="1600" b="1">
                <a:solidFill>
                  <a:srgbClr val="087E8B"/>
                </a:solidFill>
                <a:latin typeface="DejaVu Sans"/>
              </a:defRPr>
            </a:pPr>
            <a:r>
              <a:t>2.75</a:t>
            </a:r>
          </a:p>
        </p:txBody>
      </p:sp>
      <p:sp>
        <p:nvSpPr>
          <p:cNvPr id="41" name="TextBox 40"/>
          <p:cNvSpPr txBox="1"/>
          <p:nvPr/>
        </p:nvSpPr>
        <p:spPr>
          <a:xfrm>
            <a:off x="868680" y="4599431"/>
            <a:ext cx="2926080" cy="347472"/>
          </a:xfrm>
          <a:prstGeom prst="rect">
            <a:avLst/>
          </a:prstGeom>
          <a:noFill/>
        </p:spPr>
        <p:txBody>
          <a:bodyPr wrap="square" lIns="18288" rIns="18288" tIns="9144" bIns="9144">
            <a:spAutoFit/>
          </a:bodyPr>
          <a:lstStyle/>
          <a:p>
            <a:pPr>
              <a:spcAft>
                <a:spcPts val="800"/>
              </a:spcAft>
              <a:defRPr sz="1600" b="0">
                <a:solidFill>
                  <a:srgbClr val="152B42"/>
                </a:solidFill>
                <a:latin typeface="DejaVu Sans"/>
              </a:defRPr>
            </a:pPr>
            <a:r>
              <a:t>Indian</a:t>
            </a:r>
          </a:p>
        </p:txBody>
      </p:sp>
      <p:sp>
        <p:nvSpPr>
          <p:cNvPr id="42" name="Rectangle 41"/>
          <p:cNvSpPr/>
          <p:nvPr/>
        </p:nvSpPr>
        <p:spPr>
          <a:xfrm>
            <a:off x="3995928" y="4581144"/>
            <a:ext cx="2011680" cy="374904"/>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69080" y="4599431"/>
            <a:ext cx="1828800" cy="347472"/>
          </a:xfrm>
          <a:prstGeom prst="rect">
            <a:avLst/>
          </a:prstGeom>
          <a:noFill/>
        </p:spPr>
        <p:txBody>
          <a:bodyPr wrap="square" lIns="18288" rIns="18288" tIns="9144" bIns="9144">
            <a:spAutoFit/>
          </a:bodyPr>
          <a:lstStyle/>
          <a:p>
            <a:pPr>
              <a:spcAft>
                <a:spcPts val="800"/>
              </a:spcAft>
              <a:defRPr sz="1600" b="1">
                <a:solidFill>
                  <a:srgbClr val="087E8B"/>
                </a:solidFill>
                <a:latin typeface="DejaVu Sans"/>
              </a:defRPr>
            </a:pPr>
            <a:r>
              <a:t>0.35</a:t>
            </a:r>
          </a:p>
        </p:txBody>
      </p:sp>
      <p:sp>
        <p:nvSpPr>
          <p:cNvPr id="44" name="Rectangle 43"/>
          <p:cNvSpPr/>
          <p:nvPr/>
        </p:nvSpPr>
        <p:spPr>
          <a:xfrm>
            <a:off x="6419088" y="4581144"/>
            <a:ext cx="2011680" cy="374904"/>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92240" y="4599431"/>
            <a:ext cx="1828800" cy="347472"/>
          </a:xfrm>
          <a:prstGeom prst="rect">
            <a:avLst/>
          </a:prstGeom>
          <a:noFill/>
        </p:spPr>
        <p:txBody>
          <a:bodyPr wrap="square" lIns="18288" rIns="18288" tIns="9144" bIns="9144">
            <a:spAutoFit/>
          </a:bodyPr>
          <a:lstStyle/>
          <a:p>
            <a:pPr>
              <a:spcAft>
                <a:spcPts val="800"/>
              </a:spcAft>
              <a:defRPr sz="1600" b="1">
                <a:solidFill>
                  <a:srgbClr val="087E8B"/>
                </a:solidFill>
                <a:latin typeface="DejaVu Sans"/>
              </a:defRPr>
            </a:pPr>
            <a:r>
              <a:t>1.42</a:t>
            </a:r>
          </a:p>
        </p:txBody>
      </p:sp>
      <p:sp>
        <p:nvSpPr>
          <p:cNvPr id="46" name="Rectangle 45"/>
          <p:cNvSpPr/>
          <p:nvPr/>
        </p:nvSpPr>
        <p:spPr>
          <a:xfrm>
            <a:off x="8842248" y="4581144"/>
            <a:ext cx="2011680" cy="374904"/>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15400" y="4599431"/>
            <a:ext cx="1828800" cy="34747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0.00</a:t>
            </a:r>
          </a:p>
        </p:txBody>
      </p:sp>
      <p:sp>
        <p:nvSpPr>
          <p:cNvPr id="48" name="TextBox 47"/>
          <p:cNvSpPr txBox="1"/>
          <p:nvPr/>
        </p:nvSpPr>
        <p:spPr>
          <a:xfrm>
            <a:off x="868680" y="5029200"/>
            <a:ext cx="2926080" cy="347472"/>
          </a:xfrm>
          <a:prstGeom prst="rect">
            <a:avLst/>
          </a:prstGeom>
          <a:noFill/>
        </p:spPr>
        <p:txBody>
          <a:bodyPr wrap="square" lIns="18288" rIns="18288" tIns="9144" bIns="9144">
            <a:spAutoFit/>
          </a:bodyPr>
          <a:lstStyle/>
          <a:p>
            <a:pPr>
              <a:spcAft>
                <a:spcPts val="800"/>
              </a:spcAft>
              <a:defRPr sz="1600" b="0">
                <a:solidFill>
                  <a:srgbClr val="152B42"/>
                </a:solidFill>
                <a:latin typeface="DejaVu Sans"/>
              </a:defRPr>
            </a:pPr>
            <a:r>
              <a:t>Hispanic</a:t>
            </a:r>
          </a:p>
        </p:txBody>
      </p:sp>
      <p:sp>
        <p:nvSpPr>
          <p:cNvPr id="49" name="Rectangle 48"/>
          <p:cNvSpPr/>
          <p:nvPr/>
        </p:nvSpPr>
        <p:spPr>
          <a:xfrm>
            <a:off x="3995928" y="5010912"/>
            <a:ext cx="2011680" cy="374904"/>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69080" y="5029200"/>
            <a:ext cx="1828800" cy="34747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0.00</a:t>
            </a:r>
          </a:p>
        </p:txBody>
      </p:sp>
      <p:sp>
        <p:nvSpPr>
          <p:cNvPr id="51" name="Rectangle 50"/>
          <p:cNvSpPr/>
          <p:nvPr/>
        </p:nvSpPr>
        <p:spPr>
          <a:xfrm>
            <a:off x="6419088" y="5010912"/>
            <a:ext cx="2011680" cy="374904"/>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2240" y="5029200"/>
            <a:ext cx="1828800" cy="347472"/>
          </a:xfrm>
          <a:prstGeom prst="rect">
            <a:avLst/>
          </a:prstGeom>
          <a:noFill/>
        </p:spPr>
        <p:txBody>
          <a:bodyPr wrap="square" lIns="18288" rIns="18288" tIns="9144" bIns="9144">
            <a:spAutoFit/>
          </a:bodyPr>
          <a:lstStyle/>
          <a:p>
            <a:pPr>
              <a:spcAft>
                <a:spcPts val="800"/>
              </a:spcAft>
              <a:defRPr sz="1600" b="1">
                <a:solidFill>
                  <a:srgbClr val="087E8B"/>
                </a:solidFill>
                <a:latin typeface="DejaVu Sans"/>
              </a:defRPr>
            </a:pPr>
            <a:r>
              <a:t>3.81</a:t>
            </a:r>
          </a:p>
        </p:txBody>
      </p:sp>
      <p:sp>
        <p:nvSpPr>
          <p:cNvPr id="53" name="Rectangle 52"/>
          <p:cNvSpPr/>
          <p:nvPr/>
        </p:nvSpPr>
        <p:spPr>
          <a:xfrm>
            <a:off x="8842248" y="5010912"/>
            <a:ext cx="2011680" cy="374904"/>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5400" y="5029200"/>
            <a:ext cx="1828800" cy="347472"/>
          </a:xfrm>
          <a:prstGeom prst="rect">
            <a:avLst/>
          </a:prstGeom>
          <a:noFill/>
        </p:spPr>
        <p:txBody>
          <a:bodyPr wrap="square" lIns="18288" rIns="18288" tIns="9144" bIns="9144">
            <a:spAutoFit/>
          </a:bodyPr>
          <a:lstStyle/>
          <a:p>
            <a:pPr>
              <a:spcAft>
                <a:spcPts val="800"/>
              </a:spcAft>
              <a:defRPr sz="1600" b="0">
                <a:solidFill>
                  <a:srgbClr val="59697A"/>
                </a:solidFill>
                <a:latin typeface="DejaVu Sans"/>
              </a:defRPr>
            </a:pPr>
            <a:r>
              <a:t>0.00</a:t>
            </a:r>
          </a:p>
        </p:txBody>
      </p:sp>
      <p:sp>
        <p:nvSpPr>
          <p:cNvPr id="55" name="TextBox 54"/>
          <p:cNvSpPr txBox="1"/>
          <p:nvPr/>
        </p:nvSpPr>
        <p:spPr>
          <a:xfrm>
            <a:off x="868680" y="5806440"/>
            <a:ext cx="10515600" cy="45720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0 means no image change under this intervention—not absence of bias. Pixel change is not a quality metric.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INTERPRETATION</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What the evidence supports—and what it does not</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The main contribution is a reproducible feature-intervention audit.</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14</a:t>
            </a:r>
          </a:p>
        </p:txBody>
      </p:sp>
      <p:sp>
        <p:nvSpPr>
          <p:cNvPr id="9" name="Rectangle 8"/>
          <p:cNvSpPr/>
          <p:nvPr/>
        </p:nvSpPr>
        <p:spPr>
          <a:xfrm>
            <a:off x="822960" y="2377440"/>
            <a:ext cx="5166360" cy="33375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377440"/>
            <a:ext cx="41148" cy="333756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523744"/>
            <a:ext cx="480060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Supported</a:t>
            </a:r>
          </a:p>
        </p:txBody>
      </p:sp>
      <p:sp>
        <p:nvSpPr>
          <p:cNvPr id="12" name="TextBox 11"/>
          <p:cNvSpPr txBox="1"/>
          <p:nvPr/>
        </p:nvSpPr>
        <p:spPr>
          <a:xfrm>
            <a:off x="1005840" y="3255264"/>
            <a:ext cx="4800600" cy="2377439"/>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Exact saved-baseline replay</a:t>
            </a:r>
          </a:p>
          <a:p>
            <a:pPr>
              <a:spcAft>
                <a:spcPts val="800"/>
              </a:spcAft>
              <a:defRPr sz="1700" b="0">
                <a:solidFill>
                  <a:srgbClr val="152B42"/>
                </a:solidFill>
                <a:latin typeface="DejaVu Sans"/>
              </a:defRPr>
            </a:pPr>
            <a:r>
              <a:t>Correct no-op and strength scaling</a:t>
            </a:r>
          </a:p>
          <a:p>
            <a:pPr>
              <a:spcAft>
                <a:spcPts val="800"/>
              </a:spcAft>
              <a:defRPr sz="1700" b="0">
                <a:solidFill>
                  <a:srgbClr val="152B42"/>
                </a:solidFill>
                <a:latin typeface="DejaVu Sans"/>
              </a:defRPr>
            </a:pPr>
            <a:r>
              <a:t>Held-out prompt-group associations</a:t>
            </a:r>
          </a:p>
          <a:p>
            <a:pPr>
              <a:spcAft>
                <a:spcPts val="800"/>
              </a:spcAft>
              <a:defRPr sz="1700" b="0">
                <a:solidFill>
                  <a:srgbClr val="152B42"/>
                </a:solidFill>
                <a:latin typeface="DejaVu Sans"/>
              </a:defRPr>
            </a:pPr>
            <a:r>
              <a:t>Feature-dependent image changes</a:t>
            </a:r>
          </a:p>
        </p:txBody>
      </p:sp>
      <p:sp>
        <p:nvSpPr>
          <p:cNvPr id="13" name="Rectangle 12"/>
          <p:cNvSpPr/>
          <p:nvPr/>
        </p:nvSpPr>
        <p:spPr>
          <a:xfrm>
            <a:off x="6172200" y="2377440"/>
            <a:ext cx="5166360" cy="33375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377440"/>
            <a:ext cx="41148" cy="3337560"/>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2523744"/>
            <a:ext cx="4800600" cy="594360"/>
          </a:xfrm>
          <a:prstGeom prst="rect">
            <a:avLst/>
          </a:prstGeom>
          <a:noFill/>
        </p:spPr>
        <p:txBody>
          <a:bodyPr wrap="square" lIns="18288" rIns="18288" tIns="9144" bIns="9144">
            <a:spAutoFit/>
          </a:bodyPr>
          <a:lstStyle/>
          <a:p>
            <a:pPr>
              <a:spcAft>
                <a:spcPts val="800"/>
              </a:spcAft>
              <a:defRPr sz="1900" b="1">
                <a:solidFill>
                  <a:srgbClr val="D97936"/>
                </a:solidFill>
                <a:latin typeface="DejaVu Sans"/>
              </a:defRPr>
            </a:pPr>
            <a:r>
              <a:t>Not established</a:t>
            </a:r>
          </a:p>
        </p:txBody>
      </p:sp>
      <p:sp>
        <p:nvSpPr>
          <p:cNvPr id="16" name="TextBox 15"/>
          <p:cNvSpPr txBox="1"/>
          <p:nvPr/>
        </p:nvSpPr>
        <p:spPr>
          <a:xfrm>
            <a:off x="6355080" y="3255264"/>
            <a:ext cx="4800600" cy="2377439"/>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A feature’s semantic meaning</a:t>
            </a:r>
          </a:p>
          <a:p>
            <a:pPr>
              <a:spcAft>
                <a:spcPts val="800"/>
              </a:spcAft>
              <a:defRPr sz="1700" b="0">
                <a:solidFill>
                  <a:srgbClr val="152B42"/>
                </a:solidFill>
                <a:latin typeface="DejaVu Sans"/>
              </a:defRPr>
            </a:pPr>
            <a:r>
              <a:t>Head-covering removal</a:t>
            </a:r>
          </a:p>
          <a:p>
            <a:pPr>
              <a:spcAft>
                <a:spcPts val="800"/>
              </a:spcAft>
              <a:defRPr sz="1700" b="0">
                <a:solidFill>
                  <a:srgbClr val="152B42"/>
                </a:solidFill>
                <a:latin typeface="DejaVu Sans"/>
              </a:defRPr>
            </a:pPr>
            <a:r>
              <a:t>Reduced racial bias</a:t>
            </a:r>
          </a:p>
          <a:p>
            <a:pPr>
              <a:spcAft>
                <a:spcPts val="800"/>
              </a:spcAft>
              <a:defRPr sz="1700" b="0">
                <a:solidFill>
                  <a:srgbClr val="152B42"/>
                </a:solidFill>
                <a:latin typeface="DejaVu Sans"/>
              </a:defRPr>
            </a:pPr>
            <a:r>
              <a:t>Improved quality or prompt transfer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LIMITATIONS</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Threats to validity</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A useful exploratory result requires a narrower claim than “we removed bias.”</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15</a:t>
            </a:r>
          </a:p>
        </p:txBody>
      </p:sp>
      <p:sp>
        <p:nvSpPr>
          <p:cNvPr id="9" name="Rectangle 8"/>
          <p:cNvSpPr/>
          <p:nvPr/>
        </p:nvSpPr>
        <p:spPr>
          <a:xfrm>
            <a:off x="777240" y="2377440"/>
            <a:ext cx="3520440" cy="33375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377440"/>
            <a:ext cx="41148" cy="333756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523744"/>
            <a:ext cx="315468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Coverage</a:t>
            </a:r>
          </a:p>
        </p:txBody>
      </p:sp>
      <p:sp>
        <p:nvSpPr>
          <p:cNvPr id="12" name="TextBox 11"/>
          <p:cNvSpPr txBox="1"/>
          <p:nvPr/>
        </p:nvSpPr>
        <p:spPr>
          <a:xfrm>
            <a:off x="960120" y="3255264"/>
            <a:ext cx="3154680" cy="2377439"/>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3 seeds per category</a:t>
            </a:r>
          </a:p>
          <a:p>
            <a:pPr>
              <a:spcAft>
                <a:spcPts val="800"/>
              </a:spcAft>
              <a:defRPr sz="1700" b="0">
                <a:solidFill>
                  <a:srgbClr val="152B42"/>
                </a:solidFill>
                <a:latin typeface="DejaVu Sans"/>
              </a:defRPr>
            </a:pPr>
            <a:r>
              <a:t>1 prompt template</a:t>
            </a:r>
          </a:p>
          <a:p>
            <a:pPr>
              <a:spcAft>
                <a:spcPts val="800"/>
              </a:spcAft>
              <a:defRPr sz="1700" b="0">
                <a:solidFill>
                  <a:srgbClr val="152B42"/>
                </a:solidFill>
                <a:latin typeface="DejaVu Sans"/>
              </a:defRPr>
            </a:pPr>
            <a:r>
              <a:t>1 U-Net block</a:t>
            </a:r>
          </a:p>
          <a:p>
            <a:pPr>
              <a:spcAft>
                <a:spcPts val="800"/>
              </a:spcAft>
              <a:defRPr sz="1700" b="0">
                <a:solidFill>
                  <a:srgbClr val="152B42"/>
                </a:solidFill>
                <a:latin typeface="DejaVu Sans"/>
              </a:defRPr>
            </a:pPr>
            <a:r>
              <a:t>1 denoising step</a:t>
            </a:r>
          </a:p>
        </p:txBody>
      </p:sp>
      <p:sp>
        <p:nvSpPr>
          <p:cNvPr id="13" name="Rectangle 12"/>
          <p:cNvSpPr/>
          <p:nvPr/>
        </p:nvSpPr>
        <p:spPr>
          <a:xfrm>
            <a:off x="4343400" y="2377440"/>
            <a:ext cx="3520440" cy="33375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2377440"/>
            <a:ext cx="41148" cy="333756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523744"/>
            <a:ext cx="315468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Measurement</a:t>
            </a:r>
          </a:p>
        </p:txBody>
      </p:sp>
      <p:sp>
        <p:nvSpPr>
          <p:cNvPr id="16" name="TextBox 15"/>
          <p:cNvSpPr txBox="1"/>
          <p:nvPr/>
        </p:nvSpPr>
        <p:spPr>
          <a:xfrm>
            <a:off x="4526280" y="3255264"/>
            <a:ext cx="3154680" cy="2377439"/>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Spatial-max associations</a:t>
            </a:r>
          </a:p>
          <a:p>
            <a:pPr>
              <a:spcAft>
                <a:spcPts val="800"/>
              </a:spcAft>
              <a:defRPr sz="1700" b="0">
                <a:solidFill>
                  <a:srgbClr val="152B42"/>
                </a:solidFill>
                <a:latin typeface="DejaVu Sans"/>
              </a:defRPr>
            </a:pPr>
            <a:r>
              <a:t>No outcome annotations</a:t>
            </a:r>
          </a:p>
          <a:p>
            <a:pPr>
              <a:spcAft>
                <a:spcPts val="800"/>
              </a:spcAft>
              <a:defRPr sz="1700" b="0">
                <a:solidFill>
                  <a:srgbClr val="152B42"/>
                </a:solidFill>
                <a:latin typeface="DejaVu Sans"/>
              </a:defRPr>
            </a:pPr>
            <a:r>
              <a:t>No quality scores or intervals</a:t>
            </a:r>
          </a:p>
          <a:p>
            <a:pPr>
              <a:spcAft>
                <a:spcPts val="800"/>
              </a:spcAft>
              <a:defRPr sz="1700" b="0">
                <a:solidFill>
                  <a:srgbClr val="152B42"/>
                </a:solidFill>
                <a:latin typeface="DejaVu Sans"/>
              </a:defRPr>
            </a:pPr>
            <a:r>
              <a:t>Per-image heatmap scaling</a:t>
            </a:r>
          </a:p>
        </p:txBody>
      </p:sp>
      <p:sp>
        <p:nvSpPr>
          <p:cNvPr id="17" name="Rectangle 16"/>
          <p:cNvSpPr/>
          <p:nvPr/>
        </p:nvSpPr>
        <p:spPr>
          <a:xfrm>
            <a:off x="7909560" y="2377440"/>
            <a:ext cx="3520440" cy="33375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09560" y="2377440"/>
            <a:ext cx="41148" cy="3337560"/>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2523744"/>
            <a:ext cx="3154680" cy="594360"/>
          </a:xfrm>
          <a:prstGeom prst="rect">
            <a:avLst/>
          </a:prstGeom>
          <a:noFill/>
        </p:spPr>
        <p:txBody>
          <a:bodyPr wrap="square" lIns="18288" rIns="18288" tIns="9144" bIns="9144">
            <a:spAutoFit/>
          </a:bodyPr>
          <a:lstStyle/>
          <a:p>
            <a:pPr>
              <a:spcAft>
                <a:spcPts val="800"/>
              </a:spcAft>
              <a:defRPr sz="1900" b="1">
                <a:solidFill>
                  <a:srgbClr val="D97936"/>
                </a:solidFill>
                <a:latin typeface="DejaVu Sans"/>
              </a:defRPr>
            </a:pPr>
            <a:r>
              <a:t>Selection</a:t>
            </a:r>
          </a:p>
        </p:txBody>
      </p:sp>
      <p:sp>
        <p:nvSpPr>
          <p:cNvPr id="20" name="TextBox 19"/>
          <p:cNvSpPr txBox="1"/>
          <p:nvPr/>
        </p:nvSpPr>
        <p:spPr>
          <a:xfrm>
            <a:off x="8092440" y="3255264"/>
            <a:ext cx="3154680" cy="2377439"/>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Exploratory candidate choices</a:t>
            </a:r>
          </a:p>
          <a:p>
            <a:pPr>
              <a:spcAft>
                <a:spcPts val="800"/>
              </a:spcAft>
              <a:defRPr sz="1700" b="0">
                <a:solidFill>
                  <a:srgbClr val="152B42"/>
                </a:solidFill>
                <a:latin typeface="DejaVu Sans"/>
              </a:defRPr>
            </a:pPr>
            <a:r>
              <a:t>Prior notebook knowledge</a:t>
            </a:r>
          </a:p>
          <a:p>
            <a:pPr>
              <a:spcAft>
                <a:spcPts val="800"/>
              </a:spcAft>
              <a:defRPr sz="1700" b="0">
                <a:solidFill>
                  <a:srgbClr val="152B42"/>
                </a:solidFill>
                <a:latin typeface="DejaVu Sans"/>
              </a:defRPr>
            </a:pPr>
            <a:r>
              <a:t>No held-out prompt family</a:t>
            </a:r>
          </a:p>
          <a:p>
            <a:pPr>
              <a:spcAft>
                <a:spcPts val="800"/>
              </a:spcAft>
              <a:defRPr sz="1700" b="0">
                <a:solidFill>
                  <a:srgbClr val="152B42"/>
                </a:solidFill>
                <a:latin typeface="DejaVu Sans"/>
              </a:defRPr>
            </a:pPr>
            <a:r>
              <a:t>Inactive features stay inactive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PROPOSED NEXT EXPERIMENT</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600" b="1">
                <a:solidFill>
                  <a:srgbClr val="152B42"/>
                </a:solidFill>
                <a:latin typeface="DejaVu Sans"/>
              </a:defRPr>
            </a:pPr>
            <a:r>
              <a:t>The next study should target a defined unwanted outcome</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Use paired prompts and hold out seeds before feature selection.</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16</a:t>
            </a:r>
          </a:p>
        </p:txBody>
      </p:sp>
      <p:sp>
        <p:nvSpPr>
          <p:cNvPr id="9" name="Rectangle 8"/>
          <p:cNvSpPr/>
          <p:nvPr/>
        </p:nvSpPr>
        <p:spPr>
          <a:xfrm>
            <a:off x="777240" y="2423160"/>
            <a:ext cx="3246120" cy="24231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78608"/>
            <a:ext cx="822960" cy="566928"/>
          </a:xfrm>
          <a:prstGeom prst="rect">
            <a:avLst/>
          </a:prstGeom>
          <a:noFill/>
        </p:spPr>
        <p:txBody>
          <a:bodyPr wrap="square" lIns="18288" rIns="18288" tIns="9144" bIns="9144">
            <a:spAutoFit/>
          </a:bodyPr>
          <a:lstStyle/>
          <a:p>
            <a:pPr>
              <a:spcAft>
                <a:spcPts val="800"/>
              </a:spcAft>
              <a:defRPr sz="2800" b="1">
                <a:solidFill>
                  <a:srgbClr val="087E8B"/>
                </a:solidFill>
                <a:latin typeface="DejaVu Sans"/>
              </a:defRPr>
            </a:pPr>
            <a:r>
              <a:t>01</a:t>
            </a:r>
          </a:p>
        </p:txBody>
      </p:sp>
      <p:sp>
        <p:nvSpPr>
          <p:cNvPr id="11" name="TextBox 10"/>
          <p:cNvSpPr txBox="1"/>
          <p:nvPr/>
        </p:nvSpPr>
        <p:spPr>
          <a:xfrm>
            <a:off x="941832" y="3246120"/>
            <a:ext cx="2907792" cy="530352"/>
          </a:xfrm>
          <a:prstGeom prst="rect">
            <a:avLst/>
          </a:prstGeom>
          <a:noFill/>
        </p:spPr>
        <p:txBody>
          <a:bodyPr wrap="square" lIns="18288" rIns="18288" tIns="9144" bIns="9144">
            <a:spAutoFit/>
          </a:bodyPr>
          <a:lstStyle/>
          <a:p>
            <a:pPr>
              <a:spcAft>
                <a:spcPts val="800"/>
              </a:spcAft>
              <a:defRPr sz="1800" b="1">
                <a:solidFill>
                  <a:srgbClr val="152B42"/>
                </a:solidFill>
                <a:latin typeface="DejaVu Sans"/>
              </a:defRPr>
            </a:pPr>
            <a:r>
              <a:t>Define the outcome</a:t>
            </a:r>
          </a:p>
        </p:txBody>
      </p:sp>
      <p:sp>
        <p:nvSpPr>
          <p:cNvPr id="12" name="TextBox 11"/>
          <p:cNvSpPr txBox="1"/>
          <p:nvPr/>
        </p:nvSpPr>
        <p:spPr>
          <a:xfrm>
            <a:off x="941832" y="3913632"/>
            <a:ext cx="2907792" cy="868680"/>
          </a:xfrm>
          <a:prstGeom prst="rect">
            <a:avLst/>
          </a:prstGeom>
          <a:noFill/>
        </p:spPr>
        <p:txBody>
          <a:bodyPr wrap="square" lIns="18288" rIns="18288" tIns="9144" bIns="9144">
            <a:spAutoFit/>
          </a:bodyPr>
          <a:lstStyle/>
          <a:p>
            <a:pPr>
              <a:spcAft>
                <a:spcPts val="800"/>
              </a:spcAft>
              <a:defRPr sz="1600" b="0">
                <a:solidFill>
                  <a:srgbClr val="152B42"/>
                </a:solidFill>
                <a:latin typeface="DejaVu Sans"/>
              </a:defRPr>
            </a:pPr>
            <a:r>
              <a:t>Explicit prompt constraint;</a:t>
            </a:r>
          </a:p>
          <a:p>
            <a:pPr>
              <a:spcAft>
                <a:spcPts val="800"/>
              </a:spcAft>
              <a:defRPr sz="1600" b="0">
                <a:solidFill>
                  <a:srgbClr val="152B42"/>
                </a:solidFill>
                <a:latin typeface="DejaVu Sans"/>
              </a:defRPr>
            </a:pPr>
            <a:r>
              <a:t>consistent across groups.</a:t>
            </a:r>
          </a:p>
        </p:txBody>
      </p:sp>
      <p:sp>
        <p:nvSpPr>
          <p:cNvPr id="13" name="Rectangle 12"/>
          <p:cNvSpPr/>
          <p:nvPr/>
        </p:nvSpPr>
        <p:spPr>
          <a:xfrm>
            <a:off x="4434840" y="2423160"/>
            <a:ext cx="3246120" cy="24231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1" y="2578608"/>
            <a:ext cx="822960" cy="566928"/>
          </a:xfrm>
          <a:prstGeom prst="rect">
            <a:avLst/>
          </a:prstGeom>
          <a:noFill/>
        </p:spPr>
        <p:txBody>
          <a:bodyPr wrap="square" lIns="18288" rIns="18288" tIns="9144" bIns="9144">
            <a:spAutoFit/>
          </a:bodyPr>
          <a:lstStyle/>
          <a:p>
            <a:pPr>
              <a:spcAft>
                <a:spcPts val="800"/>
              </a:spcAft>
              <a:defRPr sz="2800" b="1">
                <a:solidFill>
                  <a:srgbClr val="087E8B"/>
                </a:solidFill>
                <a:latin typeface="DejaVu Sans"/>
              </a:defRPr>
            </a:pPr>
            <a:r>
              <a:t>02</a:t>
            </a:r>
          </a:p>
        </p:txBody>
      </p:sp>
      <p:sp>
        <p:nvSpPr>
          <p:cNvPr id="15" name="TextBox 14"/>
          <p:cNvSpPr txBox="1"/>
          <p:nvPr/>
        </p:nvSpPr>
        <p:spPr>
          <a:xfrm>
            <a:off x="4599431" y="3246120"/>
            <a:ext cx="2907792" cy="530352"/>
          </a:xfrm>
          <a:prstGeom prst="rect">
            <a:avLst/>
          </a:prstGeom>
          <a:noFill/>
        </p:spPr>
        <p:txBody>
          <a:bodyPr wrap="square" lIns="18288" rIns="18288" tIns="9144" bIns="9144">
            <a:spAutoFit/>
          </a:bodyPr>
          <a:lstStyle/>
          <a:p>
            <a:pPr>
              <a:spcAft>
                <a:spcPts val="800"/>
              </a:spcAft>
              <a:defRPr sz="1800" b="1">
                <a:solidFill>
                  <a:srgbClr val="152B42"/>
                </a:solidFill>
                <a:latin typeface="DejaVu Sans"/>
              </a:defRPr>
            </a:pPr>
            <a:r>
              <a:t>Select specific controls</a:t>
            </a:r>
          </a:p>
        </p:txBody>
      </p:sp>
      <p:sp>
        <p:nvSpPr>
          <p:cNvPr id="16" name="TextBox 15"/>
          <p:cNvSpPr txBox="1"/>
          <p:nvPr/>
        </p:nvSpPr>
        <p:spPr>
          <a:xfrm>
            <a:off x="4599431" y="3913632"/>
            <a:ext cx="2907792" cy="868680"/>
          </a:xfrm>
          <a:prstGeom prst="rect">
            <a:avLst/>
          </a:prstGeom>
          <a:noFill/>
        </p:spPr>
        <p:txBody>
          <a:bodyPr wrap="square" lIns="18288" rIns="18288" tIns="9144" bIns="9144">
            <a:spAutoFit/>
          </a:bodyPr>
          <a:lstStyle/>
          <a:p>
            <a:pPr>
              <a:spcAft>
                <a:spcPts val="800"/>
              </a:spcAft>
              <a:defRPr sz="1600" b="0">
                <a:solidFill>
                  <a:srgbClr val="152B42"/>
                </a:solidFill>
                <a:latin typeface="DejaVu Sans"/>
              </a:defRPr>
            </a:pPr>
            <a:r>
              <a:t>Matched prompts / seeds;</a:t>
            </a:r>
          </a:p>
          <a:p>
            <a:pPr>
              <a:spcAft>
                <a:spcPts val="800"/>
              </a:spcAft>
              <a:defRPr sz="1600" b="0">
                <a:solidFill>
                  <a:srgbClr val="152B42"/>
                </a:solidFill>
                <a:latin typeface="DejaVu Sans"/>
              </a:defRPr>
            </a:pPr>
            <a:r>
              <a:t>compare multiple blocks.</a:t>
            </a:r>
          </a:p>
        </p:txBody>
      </p:sp>
      <p:sp>
        <p:nvSpPr>
          <p:cNvPr id="17" name="Rectangle 16"/>
          <p:cNvSpPr/>
          <p:nvPr/>
        </p:nvSpPr>
        <p:spPr>
          <a:xfrm>
            <a:off x="8092440" y="2423160"/>
            <a:ext cx="3246120" cy="24231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2578608"/>
            <a:ext cx="822960" cy="566928"/>
          </a:xfrm>
          <a:prstGeom prst="rect">
            <a:avLst/>
          </a:prstGeom>
          <a:noFill/>
        </p:spPr>
        <p:txBody>
          <a:bodyPr wrap="square" lIns="18288" rIns="18288" tIns="9144" bIns="9144">
            <a:spAutoFit/>
          </a:bodyPr>
          <a:lstStyle/>
          <a:p>
            <a:pPr>
              <a:spcAft>
                <a:spcPts val="800"/>
              </a:spcAft>
              <a:defRPr sz="2800" b="1">
                <a:solidFill>
                  <a:srgbClr val="087E8B"/>
                </a:solidFill>
                <a:latin typeface="DejaVu Sans"/>
              </a:defRPr>
            </a:pPr>
            <a:r>
              <a:t>03</a:t>
            </a:r>
          </a:p>
        </p:txBody>
      </p:sp>
      <p:sp>
        <p:nvSpPr>
          <p:cNvPr id="19" name="TextBox 18"/>
          <p:cNvSpPr txBox="1"/>
          <p:nvPr/>
        </p:nvSpPr>
        <p:spPr>
          <a:xfrm>
            <a:off x="8257031" y="3246120"/>
            <a:ext cx="2907792" cy="530352"/>
          </a:xfrm>
          <a:prstGeom prst="rect">
            <a:avLst/>
          </a:prstGeom>
          <a:noFill/>
        </p:spPr>
        <p:txBody>
          <a:bodyPr wrap="square" lIns="18288" rIns="18288" tIns="9144" bIns="9144">
            <a:spAutoFit/>
          </a:bodyPr>
          <a:lstStyle/>
          <a:p>
            <a:pPr>
              <a:spcAft>
                <a:spcPts val="800"/>
              </a:spcAft>
              <a:defRPr sz="1800" b="1">
                <a:solidFill>
                  <a:srgbClr val="152B42"/>
                </a:solidFill>
                <a:latin typeface="DejaVu Sans"/>
              </a:defRPr>
            </a:pPr>
            <a:r>
              <a:t>Evaluate on untouched seeds</a:t>
            </a:r>
          </a:p>
        </p:txBody>
      </p:sp>
      <p:sp>
        <p:nvSpPr>
          <p:cNvPr id="20" name="TextBox 19"/>
          <p:cNvSpPr txBox="1"/>
          <p:nvPr/>
        </p:nvSpPr>
        <p:spPr>
          <a:xfrm>
            <a:off x="8257031" y="3913632"/>
            <a:ext cx="2907792" cy="868680"/>
          </a:xfrm>
          <a:prstGeom prst="rect">
            <a:avLst/>
          </a:prstGeom>
          <a:noFill/>
        </p:spPr>
        <p:txBody>
          <a:bodyPr wrap="square" lIns="18288" rIns="18288" tIns="9144" bIns="9144">
            <a:spAutoFit/>
          </a:bodyPr>
          <a:lstStyle/>
          <a:p>
            <a:pPr>
              <a:spcAft>
                <a:spcPts val="800"/>
              </a:spcAft>
              <a:defRPr sz="1600" b="0">
                <a:solidFill>
                  <a:srgbClr val="152B42"/>
                </a:solidFill>
                <a:latin typeface="DejaVu Sans"/>
              </a:defRPr>
            </a:pPr>
            <a:r>
              <a:t>Annotate outcomes, artifacts,</a:t>
            </a:r>
          </a:p>
          <a:p>
            <a:pPr>
              <a:spcAft>
                <a:spcPts val="800"/>
              </a:spcAft>
              <a:defRPr sz="1600" b="0">
                <a:solidFill>
                  <a:srgbClr val="152B42"/>
                </a:solidFill>
                <a:latin typeface="DejaVu Sans"/>
              </a:defRPr>
            </a:pPr>
            <a:r>
              <a:t>and collateral changes.</a:t>
            </a:r>
          </a:p>
        </p:txBody>
      </p:sp>
      <p:sp>
        <p:nvSpPr>
          <p:cNvPr id="21" name="Rectangle 20"/>
          <p:cNvSpPr/>
          <p:nvPr/>
        </p:nvSpPr>
        <p:spPr>
          <a:xfrm>
            <a:off x="777240" y="5303520"/>
            <a:ext cx="10561320" cy="758952"/>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477256"/>
            <a:ext cx="10149840" cy="457200"/>
          </a:xfrm>
          <a:prstGeom prst="rect">
            <a:avLst/>
          </a:prstGeom>
          <a:noFill/>
        </p:spPr>
        <p:txBody>
          <a:bodyPr wrap="square" lIns="18288" rIns="18288" tIns="9144" bIns="9144">
            <a:spAutoFit/>
          </a:bodyPr>
          <a:lstStyle/>
          <a:p>
            <a:pPr>
              <a:spcAft>
                <a:spcPts val="800"/>
              </a:spcAft>
              <a:defRPr sz="1850" b="1">
                <a:solidFill>
                  <a:srgbClr val="087E8B"/>
                </a:solidFill>
                <a:latin typeface="DejaVu Sans"/>
              </a:defRPr>
            </a:pPr>
            <a:r>
              <a:t>Measure Δ unwanted-outcome rate by group + artifact cost + uncertainty.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ARTIFACTS</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The experiment is reproducible and reviewable</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Scripts, grids, metrics, raw activation maps, and a blank annotation sheet are saved.</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17</a:t>
            </a:r>
          </a:p>
        </p:txBody>
      </p:sp>
      <p:sp>
        <p:nvSpPr>
          <p:cNvPr id="9" name="TextBox 8"/>
          <p:cNvSpPr txBox="1"/>
          <p:nvPr/>
        </p:nvSpPr>
        <p:spPr>
          <a:xfrm>
            <a:off x="868680" y="2331720"/>
            <a:ext cx="4114800" cy="411480"/>
          </a:xfrm>
          <a:prstGeom prst="rect">
            <a:avLst/>
          </a:prstGeom>
          <a:noFill/>
        </p:spPr>
        <p:txBody>
          <a:bodyPr wrap="square" lIns="18288" rIns="18288" tIns="9144" bIns="9144">
            <a:spAutoFit/>
          </a:bodyPr>
          <a:lstStyle/>
          <a:p>
            <a:pPr>
              <a:spcAft>
                <a:spcPts val="800"/>
              </a:spcAft>
              <a:defRPr sz="2000" b="1">
                <a:solidFill>
                  <a:srgbClr val="087E8B"/>
                </a:solidFill>
                <a:latin typeface="DejaVu Sans"/>
              </a:defRPr>
            </a:pPr>
            <a:r>
              <a:t>Run analysis only</a:t>
            </a:r>
          </a:p>
        </p:txBody>
      </p:sp>
      <p:sp>
        <p:nvSpPr>
          <p:cNvPr id="10" name="Rectangle 9"/>
          <p:cNvSpPr/>
          <p:nvPr/>
        </p:nvSpPr>
        <p:spPr>
          <a:xfrm>
            <a:off x="868680" y="2862072"/>
            <a:ext cx="10424160" cy="1078992"/>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5" y="3017520"/>
            <a:ext cx="10058400" cy="804672"/>
          </a:xfrm>
          <a:prstGeom prst="rect">
            <a:avLst/>
          </a:prstGeom>
          <a:noFill/>
        </p:spPr>
        <p:txBody>
          <a:bodyPr wrap="square" lIns="18288" rIns="18288" tIns="9144" bIns="9144">
            <a:spAutoFit/>
          </a:bodyPr>
          <a:lstStyle/>
          <a:p>
            <a:pPr>
              <a:spcAft>
                <a:spcPts val="800"/>
              </a:spcAft>
              <a:defRPr sz="1800" b="0">
                <a:solidFill>
                  <a:srgbClr val="152B42"/>
                </a:solidFill>
                <a:latin typeface="DejaVu Sans"/>
              </a:defRPr>
            </a:pPr>
            <a:r>
              <a:t>python -I -u sdxl-unbox/scripts/sae_bias_experiment.py</a:t>
            </a:r>
          </a:p>
          <a:p>
            <a:pPr>
              <a:spcAft>
                <a:spcPts val="800"/>
              </a:spcAft>
              <a:defRPr sz="1800" b="0">
                <a:solidFill>
                  <a:srgbClr val="152B42"/>
                </a:solidFill>
                <a:latin typeface="DejaVu Sans"/>
              </a:defRPr>
            </a:pPr>
            <a:r>
              <a:t>  --output baseline/new_bias_analysis --analysis-only</a:t>
            </a:r>
          </a:p>
        </p:txBody>
      </p:sp>
      <p:sp>
        <p:nvSpPr>
          <p:cNvPr id="12" name="TextBox 11"/>
          <p:cNvSpPr txBox="1"/>
          <p:nvPr/>
        </p:nvSpPr>
        <p:spPr>
          <a:xfrm>
            <a:off x="868680" y="4251960"/>
            <a:ext cx="4846320" cy="411480"/>
          </a:xfrm>
          <a:prstGeom prst="rect">
            <a:avLst/>
          </a:prstGeom>
          <a:noFill/>
        </p:spPr>
        <p:txBody>
          <a:bodyPr wrap="square" lIns="18288" rIns="18288" tIns="9144" bIns="9144">
            <a:spAutoFit/>
          </a:bodyPr>
          <a:lstStyle/>
          <a:p>
            <a:pPr>
              <a:spcAft>
                <a:spcPts val="800"/>
              </a:spcAft>
              <a:defRPr sz="2000" b="1">
                <a:solidFill>
                  <a:srgbClr val="087E8B"/>
                </a:solidFill>
                <a:latin typeface="DejaVu Sans"/>
              </a:defRPr>
            </a:pPr>
            <a:r>
              <a:t>Run all-category sweeps</a:t>
            </a:r>
          </a:p>
        </p:txBody>
      </p:sp>
      <p:sp>
        <p:nvSpPr>
          <p:cNvPr id="13" name="Rectangle 12"/>
          <p:cNvSpPr/>
          <p:nvPr/>
        </p:nvSpPr>
        <p:spPr>
          <a:xfrm>
            <a:off x="868680" y="4773168"/>
            <a:ext cx="10424160" cy="1078992"/>
          </a:xfrm>
          <a:prstGeom prst="rect">
            <a:avLst/>
          </a:prstGeom>
          <a:solidFill>
            <a:srgbClr val="E8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4928616"/>
            <a:ext cx="10058400" cy="804672"/>
          </a:xfrm>
          <a:prstGeom prst="rect">
            <a:avLst/>
          </a:prstGeom>
          <a:noFill/>
        </p:spPr>
        <p:txBody>
          <a:bodyPr wrap="square" lIns="18288" rIns="18288" tIns="9144" bIns="9144">
            <a:spAutoFit/>
          </a:bodyPr>
          <a:lstStyle/>
          <a:p>
            <a:pPr>
              <a:spcAft>
                <a:spcPts val="800"/>
              </a:spcAft>
              <a:defRPr sz="1800" b="0">
                <a:solidFill>
                  <a:srgbClr val="152B42"/>
                </a:solidFill>
                <a:latin typeface="DejaVu Sans"/>
              </a:defRPr>
            </a:pPr>
            <a:r>
              <a:t>python -I -u sdxl-unbox/scripts/sae_bias_experiment.py</a:t>
            </a:r>
          </a:p>
          <a:p>
            <a:pPr>
              <a:spcAft>
                <a:spcPts val="800"/>
              </a:spcAft>
              <a:defRPr sz="1800" b="0">
                <a:solidFill>
                  <a:srgbClr val="152B42"/>
                </a:solidFill>
                <a:latin typeface="DejaVu Sans"/>
              </a:defRPr>
            </a:pPr>
            <a:r>
              <a:t>  --output baseline/new_bias_interventions --seeds 40 41 42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TRAINING PROVENANCE</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Appendix · the initial SAE training pilot</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A small new dictionary was trained, then excluded from the racial-bias experiment.</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18</a:t>
            </a:r>
          </a:p>
        </p:txBody>
      </p:sp>
      <p:sp>
        <p:nvSpPr>
          <p:cNvPr id="9" name="Rectangle 8"/>
          <p:cNvSpPr/>
          <p:nvPr/>
        </p:nvSpPr>
        <p:spPr>
          <a:xfrm>
            <a:off x="822960" y="2377440"/>
            <a:ext cx="5120640" cy="24231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377440"/>
            <a:ext cx="41148" cy="242316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523744"/>
            <a:ext cx="4754879"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Training configuration</a:t>
            </a:r>
          </a:p>
        </p:txBody>
      </p:sp>
      <p:sp>
        <p:nvSpPr>
          <p:cNvPr id="12" name="TextBox 11"/>
          <p:cNvSpPr txBox="1"/>
          <p:nvPr/>
        </p:nvSpPr>
        <p:spPr>
          <a:xfrm>
            <a:off x="1005840" y="3255264"/>
            <a:ext cx="4754879" cy="1463039"/>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1,280 → 5,120 dimensions; k=20</a:t>
            </a:r>
          </a:p>
          <a:p>
            <a:pPr>
              <a:spcAft>
                <a:spcPts val="800"/>
              </a:spcAft>
              <a:defRPr sz="1700" b="0">
                <a:solidFill>
                  <a:srgbClr val="152B42"/>
                </a:solidFill>
                <a:latin typeface="DejaVu Sans"/>
              </a:defRPr>
            </a:pPr>
            <a:r>
              <a:t>10,240 train / 2,048 held-out vectors</a:t>
            </a:r>
          </a:p>
          <a:p>
            <a:pPr>
              <a:spcAft>
                <a:spcPts val="800"/>
              </a:spcAft>
              <a:defRPr sz="1700" b="0">
                <a:solidFill>
                  <a:srgbClr val="152B42"/>
                </a:solidFill>
                <a:latin typeface="DejaVu Sans"/>
              </a:defRPr>
            </a:pPr>
            <a:r>
              <a:t>500 Adam steps; learning rate 10⁻⁴</a:t>
            </a:r>
          </a:p>
        </p:txBody>
      </p:sp>
      <p:sp>
        <p:nvSpPr>
          <p:cNvPr id="13" name="Rectangle 12"/>
          <p:cNvSpPr/>
          <p:nvPr/>
        </p:nvSpPr>
        <p:spPr>
          <a:xfrm>
            <a:off x="6172200" y="2377440"/>
            <a:ext cx="5120640" cy="242316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377440"/>
            <a:ext cx="41148" cy="2423160"/>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2523744"/>
            <a:ext cx="4754879" cy="594360"/>
          </a:xfrm>
          <a:prstGeom prst="rect">
            <a:avLst/>
          </a:prstGeom>
          <a:noFill/>
        </p:spPr>
        <p:txBody>
          <a:bodyPr wrap="square" lIns="18288" rIns="18288" tIns="9144" bIns="9144">
            <a:spAutoFit/>
          </a:bodyPr>
          <a:lstStyle/>
          <a:p>
            <a:pPr>
              <a:spcAft>
                <a:spcPts val="800"/>
              </a:spcAft>
              <a:defRPr sz="1900" b="1">
                <a:solidFill>
                  <a:srgbClr val="D97936"/>
                </a:solidFill>
                <a:latin typeface="DejaVu Sans"/>
              </a:defRPr>
            </a:pPr>
            <a:r>
              <a:t>Observed fit</a:t>
            </a:r>
          </a:p>
        </p:txBody>
      </p:sp>
      <p:sp>
        <p:nvSpPr>
          <p:cNvPr id="16" name="TextBox 15"/>
          <p:cNvSpPr txBox="1"/>
          <p:nvPr/>
        </p:nvSpPr>
        <p:spPr>
          <a:xfrm>
            <a:off x="6355080" y="3255264"/>
            <a:ext cx="4754879" cy="1463039"/>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Training batch MSE: 7.774 → 0.856</a:t>
            </a:r>
          </a:p>
          <a:p>
            <a:pPr>
              <a:spcAft>
                <a:spcPts val="800"/>
              </a:spcAft>
              <a:defRPr sz="1700" b="0">
                <a:solidFill>
                  <a:srgbClr val="152B42"/>
                </a:solidFill>
                <a:latin typeface="DejaVu Sans"/>
              </a:defRPr>
            </a:pPr>
            <a:r>
              <a:t>Held-out normalized MSE: 1.221 → 0.976</a:t>
            </a:r>
          </a:p>
          <a:p>
            <a:pPr>
              <a:spcAft>
                <a:spcPts val="800"/>
              </a:spcAft>
              <a:defRPr sz="1700" b="0">
                <a:solidFill>
                  <a:srgbClr val="152B42"/>
                </a:solidFill>
                <a:latin typeface="DejaVu Sans"/>
              </a:defRPr>
            </a:pPr>
            <a:r>
              <a:t>86.6% unused on held-out sample</a:t>
            </a:r>
          </a:p>
        </p:txBody>
      </p:sp>
      <p:sp>
        <p:nvSpPr>
          <p:cNvPr id="17" name="TextBox 16"/>
          <p:cNvSpPr txBox="1"/>
          <p:nvPr/>
        </p:nvSpPr>
        <p:spPr>
          <a:xfrm>
            <a:off x="868680" y="5349240"/>
            <a:ext cx="10515600" cy="731520"/>
          </a:xfrm>
          <a:prstGeom prst="rect">
            <a:avLst/>
          </a:prstGeom>
          <a:noFill/>
        </p:spPr>
        <p:txBody>
          <a:bodyPr wrap="square" lIns="18288" rIns="18288" tIns="9144" bIns="9144">
            <a:spAutoFit/>
          </a:bodyPr>
          <a:lstStyle/>
          <a:p>
            <a:pPr>
              <a:spcAft>
                <a:spcPts val="800"/>
              </a:spcAft>
              <a:defRPr sz="2000" b="1">
                <a:solidFill>
                  <a:srgbClr val="087E8B"/>
                </a:solidFill>
                <a:latin typeface="DejaVu Sans"/>
              </a:defRPr>
            </a:pPr>
            <a:r>
              <a:t>For the portrait audit, reuse of the original pretrained k=10 SAE preserves old feature IDs.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MEASUREMENT AUDIT</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Appendix · a normalization issue in the old notebook</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The new analysis leaves old artifacts intact and reports quantities with correct denominators.</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19</a:t>
            </a:r>
          </a:p>
        </p:txBody>
      </p:sp>
      <p:sp>
        <p:nvSpPr>
          <p:cNvPr id="9" name="Rectangle 8"/>
          <p:cNvSpPr/>
          <p:nvPr/>
        </p:nvSpPr>
        <p:spPr>
          <a:xfrm>
            <a:off x="822960" y="2423160"/>
            <a:ext cx="5166360" cy="269748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423160"/>
            <a:ext cx="41148" cy="2697480"/>
          </a:xfrm>
          <a:prstGeom prst="rect">
            <a:avLst/>
          </a:prstGeom>
          <a:solidFill>
            <a:srgbClr val="D97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569464"/>
            <a:ext cx="4800600" cy="594360"/>
          </a:xfrm>
          <a:prstGeom prst="rect">
            <a:avLst/>
          </a:prstGeom>
          <a:noFill/>
        </p:spPr>
        <p:txBody>
          <a:bodyPr wrap="square" lIns="18288" rIns="18288" tIns="9144" bIns="9144">
            <a:spAutoFit/>
          </a:bodyPr>
          <a:lstStyle/>
          <a:p>
            <a:pPr>
              <a:spcAft>
                <a:spcPts val="800"/>
              </a:spcAft>
              <a:defRPr sz="1900" b="1">
                <a:solidFill>
                  <a:srgbClr val="D97936"/>
                </a:solidFill>
                <a:latin typeface="DejaVu Sans"/>
              </a:defRPr>
            </a:pPr>
            <a:r>
              <a:t>Old “freq” field</a:t>
            </a:r>
          </a:p>
        </p:txBody>
      </p:sp>
      <p:sp>
        <p:nvSpPr>
          <p:cNvPr id="12" name="TextBox 11"/>
          <p:cNvSpPr txBox="1"/>
          <p:nvPr/>
        </p:nvSpPr>
        <p:spPr>
          <a:xfrm>
            <a:off x="1005840" y="3300984"/>
            <a:ext cx="4800600" cy="173736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Σ active spatial positions / number of images</a:t>
            </a:r>
          </a:p>
          <a:p>
            <a:pPr>
              <a:spcAft>
                <a:spcPts val="800"/>
              </a:spcAft>
              <a:defRPr sz="1700" b="0">
                <a:solidFill>
                  <a:srgbClr val="152B42"/>
                </a:solidFill>
                <a:latin typeface="DejaVu Sans"/>
              </a:defRPr>
            </a:pPr>
          </a:p>
          <a:p>
            <a:pPr>
              <a:spcAft>
                <a:spcPts val="800"/>
              </a:spcAft>
              <a:defRPr sz="1700" b="0">
                <a:solidFill>
                  <a:srgbClr val="152B42"/>
                </a:solidFill>
                <a:latin typeface="DejaVu Sans"/>
              </a:defRPr>
            </a:pPr>
            <a:r>
              <a:t>Meaning: active positions per image</a:t>
            </a:r>
          </a:p>
          <a:p>
            <a:pPr>
              <a:spcAft>
                <a:spcPts val="800"/>
              </a:spcAft>
              <a:defRPr sz="1700" b="0">
                <a:solidFill>
                  <a:srgbClr val="152B42"/>
                </a:solidFill>
                <a:latin typeface="DejaVu Sans"/>
              </a:defRPr>
            </a:pPr>
            <a:r>
              <a:t>Can exceed 1.</a:t>
            </a:r>
          </a:p>
        </p:txBody>
      </p:sp>
      <p:sp>
        <p:nvSpPr>
          <p:cNvPr id="13" name="Rectangle 12"/>
          <p:cNvSpPr/>
          <p:nvPr/>
        </p:nvSpPr>
        <p:spPr>
          <a:xfrm>
            <a:off x="6172200" y="2423160"/>
            <a:ext cx="5166360" cy="2697480"/>
          </a:xfrm>
          <a:prstGeom prst="rect">
            <a:avLst/>
          </a:prstGeom>
          <a:solidFill>
            <a:srgbClr val="FFFFFF"/>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423160"/>
            <a:ext cx="41148" cy="269748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2569464"/>
            <a:ext cx="4800600" cy="594360"/>
          </a:xfrm>
          <a:prstGeom prst="rect">
            <a:avLst/>
          </a:prstGeom>
          <a:noFill/>
        </p:spPr>
        <p:txBody>
          <a:bodyPr wrap="square" lIns="18288" rIns="18288" tIns="9144" bIns="9144">
            <a:spAutoFit/>
          </a:bodyPr>
          <a:lstStyle/>
          <a:p>
            <a:pPr>
              <a:spcAft>
                <a:spcPts val="800"/>
              </a:spcAft>
              <a:defRPr sz="1900" b="1">
                <a:solidFill>
                  <a:srgbClr val="087E8B"/>
                </a:solidFill>
                <a:latin typeface="DejaVu Sans"/>
              </a:defRPr>
            </a:pPr>
            <a:r>
              <a:t>New replay fraction</a:t>
            </a:r>
          </a:p>
        </p:txBody>
      </p:sp>
      <p:sp>
        <p:nvSpPr>
          <p:cNvPr id="16" name="TextBox 15"/>
          <p:cNvSpPr txBox="1"/>
          <p:nvPr/>
        </p:nvSpPr>
        <p:spPr>
          <a:xfrm>
            <a:off x="6355080" y="3300984"/>
            <a:ext cx="4800600" cy="1737360"/>
          </a:xfrm>
          <a:prstGeom prst="rect">
            <a:avLst/>
          </a:prstGeom>
          <a:noFill/>
        </p:spPr>
        <p:txBody>
          <a:bodyPr wrap="square" lIns="18288" rIns="18288" tIns="9144" bIns="9144">
            <a:spAutoFit/>
          </a:bodyPr>
          <a:lstStyle/>
          <a:p>
            <a:pPr>
              <a:spcAft>
                <a:spcPts val="800"/>
              </a:spcAft>
              <a:defRPr sz="1700" b="0">
                <a:solidFill>
                  <a:srgbClr val="152B42"/>
                </a:solidFill>
                <a:latin typeface="DejaVu Sans"/>
              </a:defRPr>
            </a:pPr>
            <a:r>
              <a:t>mean over positions [activation &gt; 0]</a:t>
            </a:r>
          </a:p>
          <a:p>
            <a:pPr>
              <a:spcAft>
                <a:spcPts val="800"/>
              </a:spcAft>
              <a:defRPr sz="1700" b="0">
                <a:solidFill>
                  <a:srgbClr val="152B42"/>
                </a:solidFill>
                <a:latin typeface="DejaVu Sans"/>
              </a:defRPr>
            </a:pPr>
          </a:p>
          <a:p>
            <a:pPr>
              <a:spcAft>
                <a:spcPts val="800"/>
              </a:spcAft>
              <a:defRPr sz="1700" b="0">
                <a:solidFill>
                  <a:srgbClr val="152B42"/>
                </a:solidFill>
                <a:latin typeface="DejaVu Sans"/>
              </a:defRPr>
            </a:pPr>
            <a:r>
              <a:t>Meaning: spatial fraction per image</a:t>
            </a:r>
          </a:p>
          <a:p>
            <a:pPr>
              <a:spcAft>
                <a:spcPts val="800"/>
              </a:spcAft>
              <a:defRPr sz="1700" b="0">
                <a:solidFill>
                  <a:srgbClr val="152B42"/>
                </a:solidFill>
                <a:latin typeface="DejaVu Sans"/>
              </a:defRPr>
            </a:pPr>
            <a:r>
              <a:t>Bounded between 0 and 1.</a:t>
            </a:r>
          </a:p>
        </p:txBody>
      </p:sp>
      <p:sp>
        <p:nvSpPr>
          <p:cNvPr id="17" name="TextBox 16"/>
          <p:cNvSpPr txBox="1"/>
          <p:nvPr/>
        </p:nvSpPr>
        <p:spPr>
          <a:xfrm>
            <a:off x="868680" y="5532120"/>
            <a:ext cx="10515600" cy="502920"/>
          </a:xfrm>
          <a:prstGeom prst="rect">
            <a:avLst/>
          </a:prstGeom>
          <a:noFill/>
        </p:spPr>
        <p:txBody>
          <a:bodyPr wrap="square" lIns="18288" rIns="18288" tIns="9144" bIns="9144">
            <a:spAutoFit/>
          </a:bodyPr>
          <a:lstStyle/>
          <a:p>
            <a:pPr>
              <a:spcAft>
                <a:spcPts val="800"/>
              </a:spcAft>
              <a:defRPr sz="1700" b="0">
                <a:solidFill>
                  <a:srgbClr val="59697A"/>
                </a:solidFill>
                <a:latin typeface="DejaVu Sans"/>
              </a:defRPr>
            </a:pPr>
            <a:r>
              <a:t>Cached NPZ remains spatial-max pooled; its image-active fraction is a different statistic.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411480" y="365760"/>
            <a:ext cx="73152" cy="438912"/>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92608"/>
            <a:ext cx="10789920" cy="274320"/>
          </a:xfrm>
          <a:prstGeom prst="rect">
            <a:avLst/>
          </a:prstGeom>
          <a:noFill/>
        </p:spPr>
        <p:txBody>
          <a:bodyPr wrap="square" lIns="18288" rIns="18288" tIns="9144" bIns="9144">
            <a:spAutoFit/>
          </a:bodyPr>
          <a:lstStyle/>
          <a:p>
            <a:pPr>
              <a:spcAft>
                <a:spcPts val="800"/>
              </a:spcAft>
              <a:defRPr sz="1000" b="1">
                <a:solidFill>
                  <a:srgbClr val="087E8B"/>
                </a:solidFill>
                <a:latin typeface="DejaVu Sans"/>
              </a:defRPr>
            </a:pPr>
            <a:r>
              <a:t>EVIDENCE INDEX</a:t>
            </a:r>
          </a:p>
        </p:txBody>
      </p:sp>
      <p:sp>
        <p:nvSpPr>
          <p:cNvPr id="4" name="TextBox 3"/>
          <p:cNvSpPr txBox="1"/>
          <p:nvPr/>
        </p:nvSpPr>
        <p:spPr>
          <a:xfrm>
            <a:off x="640080" y="768096"/>
            <a:ext cx="10972800" cy="713232"/>
          </a:xfrm>
          <a:prstGeom prst="rect">
            <a:avLst/>
          </a:prstGeom>
          <a:noFill/>
        </p:spPr>
        <p:txBody>
          <a:bodyPr wrap="square" lIns="18288" rIns="18288" tIns="9144" bIns="9144">
            <a:spAutoFit/>
          </a:bodyPr>
          <a:lstStyle/>
          <a:p>
            <a:pPr>
              <a:spcAft>
                <a:spcPts val="800"/>
              </a:spcAft>
              <a:defRPr sz="2900" b="1">
                <a:solidFill>
                  <a:srgbClr val="152B42"/>
                </a:solidFill>
                <a:latin typeface="DejaVu Sans"/>
              </a:defRPr>
            </a:pPr>
            <a:r>
              <a:t>Appendix · local evidence and exact configuration</a:t>
            </a:r>
          </a:p>
        </p:txBody>
      </p:sp>
      <p:sp>
        <p:nvSpPr>
          <p:cNvPr id="5" name="TextBox 4"/>
          <p:cNvSpPr txBox="1"/>
          <p:nvPr/>
        </p:nvSpPr>
        <p:spPr>
          <a:xfrm>
            <a:off x="658368" y="1508760"/>
            <a:ext cx="10881360" cy="594360"/>
          </a:xfrm>
          <a:prstGeom prst="rect">
            <a:avLst/>
          </a:prstGeom>
          <a:noFill/>
        </p:spPr>
        <p:txBody>
          <a:bodyPr wrap="square" lIns="18288" rIns="18288" tIns="9144" bIns="9144">
            <a:spAutoFit/>
          </a:bodyPr>
          <a:lstStyle/>
          <a:p>
            <a:pPr>
              <a:spcAft>
                <a:spcPts val="800"/>
              </a:spcAft>
              <a:defRPr sz="1500" b="0">
                <a:solidFill>
                  <a:srgbClr val="59697A"/>
                </a:solidFill>
                <a:latin typeface="DejaVu Sans"/>
              </a:defRPr>
            </a:pPr>
            <a:r>
              <a:t>All reported quantitative results are derived from workspace artifacts.</a:t>
            </a:r>
          </a:p>
        </p:txBody>
      </p:sp>
      <p:sp>
        <p:nvSpPr>
          <p:cNvPr id="6" name="Rectangle 5"/>
          <p:cNvSpPr/>
          <p:nvPr/>
        </p:nvSpPr>
        <p:spPr>
          <a:xfrm>
            <a:off x="640080" y="6419088"/>
            <a:ext cx="10881360" cy="10972"/>
          </a:xfrm>
          <a:prstGeom prst="rect">
            <a:avLst/>
          </a:prstGeom>
          <a:solidFill>
            <a:srgbClr val="DC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92240"/>
            <a:ext cx="6400800" cy="210312"/>
          </a:xfrm>
          <a:prstGeom prst="rect">
            <a:avLst/>
          </a:prstGeom>
          <a:noFill/>
        </p:spPr>
        <p:txBody>
          <a:bodyPr wrap="square" lIns="18288" rIns="18288" tIns="9144" bIns="9144">
            <a:spAutoFit/>
          </a:bodyPr>
          <a:lstStyle/>
          <a:p>
            <a:pPr>
              <a:spcAft>
                <a:spcPts val="800"/>
              </a:spcAft>
              <a:defRPr sz="900" b="0">
                <a:solidFill>
                  <a:srgbClr val="59697A"/>
                </a:solidFill>
                <a:latin typeface="DejaVu Sans"/>
              </a:defRPr>
            </a:pPr>
            <a:r>
              <a:t>SDXL Turbo · SAE portrait audit | exploratory findings</a:t>
            </a:r>
          </a:p>
        </p:txBody>
      </p:sp>
      <p:sp>
        <p:nvSpPr>
          <p:cNvPr id="8" name="TextBox 7"/>
          <p:cNvSpPr txBox="1"/>
          <p:nvPr/>
        </p:nvSpPr>
        <p:spPr>
          <a:xfrm>
            <a:off x="11082528" y="6473952"/>
            <a:ext cx="384048" cy="256032"/>
          </a:xfrm>
          <a:prstGeom prst="rect">
            <a:avLst/>
          </a:prstGeom>
          <a:noFill/>
        </p:spPr>
        <p:txBody>
          <a:bodyPr wrap="square" lIns="18288" rIns="18288" tIns="9144" bIns="9144">
            <a:spAutoFit/>
          </a:bodyPr>
          <a:lstStyle/>
          <a:p>
            <a:pPr>
              <a:spcAft>
                <a:spcPts val="800"/>
              </a:spcAft>
              <a:defRPr sz="1100" b="1">
                <a:solidFill>
                  <a:srgbClr val="087E8B"/>
                </a:solidFill>
                <a:latin typeface="DejaVu Sans"/>
              </a:defRPr>
            </a:pPr>
            <a:r>
              <a:t>20</a:t>
            </a:r>
          </a:p>
        </p:txBody>
      </p:sp>
      <p:sp>
        <p:nvSpPr>
          <p:cNvPr id="9" name="TextBox 8"/>
          <p:cNvSpPr txBox="1"/>
          <p:nvPr/>
        </p:nvSpPr>
        <p:spPr>
          <a:xfrm>
            <a:off x="868680" y="2331720"/>
            <a:ext cx="2240280" cy="365760"/>
          </a:xfrm>
          <a:prstGeom prst="rect">
            <a:avLst/>
          </a:prstGeom>
          <a:noFill/>
        </p:spPr>
        <p:txBody>
          <a:bodyPr wrap="square" lIns="18288" rIns="18288" tIns="9144" bIns="9144">
            <a:spAutoFit/>
          </a:bodyPr>
          <a:lstStyle/>
          <a:p>
            <a:pPr>
              <a:spcAft>
                <a:spcPts val="800"/>
              </a:spcAft>
              <a:defRPr sz="1500" b="1">
                <a:solidFill>
                  <a:srgbClr val="087E8B"/>
                </a:solidFill>
                <a:latin typeface="DejaVu Sans"/>
              </a:defRPr>
            </a:pPr>
            <a:r>
              <a:t>Findings</a:t>
            </a:r>
          </a:p>
        </p:txBody>
      </p:sp>
      <p:sp>
        <p:nvSpPr>
          <p:cNvPr id="10" name="TextBox 9"/>
          <p:cNvSpPr txBox="1"/>
          <p:nvPr/>
        </p:nvSpPr>
        <p:spPr>
          <a:xfrm>
            <a:off x="3154680" y="2331720"/>
            <a:ext cx="8138160" cy="402336"/>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baseline/sae_bias_interventions_20261009/FINDINGS.md</a:t>
            </a:r>
          </a:p>
        </p:txBody>
      </p:sp>
      <p:sp>
        <p:nvSpPr>
          <p:cNvPr id="11" name="TextBox 10"/>
          <p:cNvSpPr txBox="1"/>
          <p:nvPr/>
        </p:nvSpPr>
        <p:spPr>
          <a:xfrm>
            <a:off x="868680" y="2834639"/>
            <a:ext cx="2240280" cy="365760"/>
          </a:xfrm>
          <a:prstGeom prst="rect">
            <a:avLst/>
          </a:prstGeom>
          <a:noFill/>
        </p:spPr>
        <p:txBody>
          <a:bodyPr wrap="square" lIns="18288" rIns="18288" tIns="9144" bIns="9144">
            <a:spAutoFit/>
          </a:bodyPr>
          <a:lstStyle/>
          <a:p>
            <a:pPr>
              <a:spcAft>
                <a:spcPts val="800"/>
              </a:spcAft>
              <a:defRPr sz="1500" b="1">
                <a:solidFill>
                  <a:srgbClr val="087E8B"/>
                </a:solidFill>
                <a:latin typeface="DejaVu Sans"/>
              </a:defRPr>
            </a:pPr>
            <a:r>
              <a:t>Method</a:t>
            </a:r>
          </a:p>
        </p:txBody>
      </p:sp>
      <p:sp>
        <p:nvSpPr>
          <p:cNvPr id="12" name="TextBox 11"/>
          <p:cNvSpPr txBox="1"/>
          <p:nvPr/>
        </p:nvSpPr>
        <p:spPr>
          <a:xfrm>
            <a:off x="3154680" y="2834639"/>
            <a:ext cx="8138160" cy="402336"/>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sdxl-unbox/scripts/sae_bias_experiment.py</a:t>
            </a:r>
          </a:p>
        </p:txBody>
      </p:sp>
      <p:sp>
        <p:nvSpPr>
          <p:cNvPr id="13" name="TextBox 12"/>
          <p:cNvSpPr txBox="1"/>
          <p:nvPr/>
        </p:nvSpPr>
        <p:spPr>
          <a:xfrm>
            <a:off x="868680" y="3337560"/>
            <a:ext cx="2240280" cy="365760"/>
          </a:xfrm>
          <a:prstGeom prst="rect">
            <a:avLst/>
          </a:prstGeom>
          <a:noFill/>
        </p:spPr>
        <p:txBody>
          <a:bodyPr wrap="square" lIns="18288" rIns="18288" tIns="9144" bIns="9144">
            <a:spAutoFit/>
          </a:bodyPr>
          <a:lstStyle/>
          <a:p>
            <a:pPr>
              <a:spcAft>
                <a:spcPts val="800"/>
              </a:spcAft>
              <a:defRPr sz="1500" b="1">
                <a:solidFill>
                  <a:srgbClr val="087E8B"/>
                </a:solidFill>
                <a:latin typeface="DejaVu Sans"/>
              </a:defRPr>
            </a:pPr>
            <a:r>
              <a:t>Associations</a:t>
            </a:r>
          </a:p>
        </p:txBody>
      </p:sp>
      <p:sp>
        <p:nvSpPr>
          <p:cNvPr id="14" name="TextBox 13"/>
          <p:cNvSpPr txBox="1"/>
          <p:nvPr/>
        </p:nvSpPr>
        <p:spPr>
          <a:xfrm>
            <a:off x="3154680" y="3337560"/>
            <a:ext cx="8138160" cy="402336"/>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feature_associations.csv; cached_data_split.npz</a:t>
            </a:r>
          </a:p>
        </p:txBody>
      </p:sp>
      <p:sp>
        <p:nvSpPr>
          <p:cNvPr id="15" name="TextBox 14"/>
          <p:cNvSpPr txBox="1"/>
          <p:nvPr/>
        </p:nvSpPr>
        <p:spPr>
          <a:xfrm>
            <a:off x="868680" y="3840480"/>
            <a:ext cx="2240280" cy="365760"/>
          </a:xfrm>
          <a:prstGeom prst="rect">
            <a:avLst/>
          </a:prstGeom>
          <a:noFill/>
        </p:spPr>
        <p:txBody>
          <a:bodyPr wrap="square" lIns="18288" rIns="18288" tIns="9144" bIns="9144">
            <a:spAutoFit/>
          </a:bodyPr>
          <a:lstStyle/>
          <a:p>
            <a:pPr>
              <a:spcAft>
                <a:spcPts val="800"/>
              </a:spcAft>
              <a:defRPr sz="1500" b="1">
                <a:solidFill>
                  <a:srgbClr val="087E8B"/>
                </a:solidFill>
                <a:latin typeface="DejaVu Sans"/>
              </a:defRPr>
            </a:pPr>
            <a:r>
              <a:t>Controls</a:t>
            </a:r>
          </a:p>
        </p:txBody>
      </p:sp>
      <p:sp>
        <p:nvSpPr>
          <p:cNvPr id="16" name="TextBox 15"/>
          <p:cNvSpPr txBox="1"/>
          <p:nvPr/>
        </p:nvSpPr>
        <p:spPr>
          <a:xfrm>
            <a:off x="3154680" y="3840480"/>
            <a:ext cx="8138160" cy="402336"/>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intervention_metrics.csv; settings.json</a:t>
            </a:r>
          </a:p>
        </p:txBody>
      </p:sp>
      <p:sp>
        <p:nvSpPr>
          <p:cNvPr id="17" name="TextBox 16"/>
          <p:cNvSpPr txBox="1"/>
          <p:nvPr/>
        </p:nvSpPr>
        <p:spPr>
          <a:xfrm>
            <a:off x="868680" y="4343400"/>
            <a:ext cx="2240280" cy="365760"/>
          </a:xfrm>
          <a:prstGeom prst="rect">
            <a:avLst/>
          </a:prstGeom>
          <a:noFill/>
        </p:spPr>
        <p:txBody>
          <a:bodyPr wrap="square" lIns="18288" rIns="18288" tIns="9144" bIns="9144">
            <a:spAutoFit/>
          </a:bodyPr>
          <a:lstStyle/>
          <a:p>
            <a:pPr>
              <a:spcAft>
                <a:spcPts val="800"/>
              </a:spcAft>
              <a:defRPr sz="1500" b="1">
                <a:solidFill>
                  <a:srgbClr val="087E8B"/>
                </a:solidFill>
                <a:latin typeface="DejaVu Sans"/>
              </a:defRPr>
            </a:pPr>
            <a:r>
              <a:t>Visuals / review</a:t>
            </a:r>
          </a:p>
        </p:txBody>
      </p:sp>
      <p:sp>
        <p:nvSpPr>
          <p:cNvPr id="18" name="TextBox 17"/>
          <p:cNvSpPr txBox="1"/>
          <p:nvPr/>
        </p:nvSpPr>
        <p:spPr>
          <a:xfrm>
            <a:off x="3154680" y="4343400"/>
            <a:ext cx="8138160" cy="402336"/>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REPORT.md; */feature*_comparison.png; human_review.csv</a:t>
            </a:r>
          </a:p>
        </p:txBody>
      </p:sp>
      <p:sp>
        <p:nvSpPr>
          <p:cNvPr id="19" name="TextBox 18"/>
          <p:cNvSpPr txBox="1"/>
          <p:nvPr/>
        </p:nvSpPr>
        <p:spPr>
          <a:xfrm>
            <a:off x="868680" y="4846320"/>
            <a:ext cx="2240280" cy="365760"/>
          </a:xfrm>
          <a:prstGeom prst="rect">
            <a:avLst/>
          </a:prstGeom>
          <a:noFill/>
        </p:spPr>
        <p:txBody>
          <a:bodyPr wrap="square" lIns="18288" rIns="18288" tIns="9144" bIns="9144">
            <a:spAutoFit/>
          </a:bodyPr>
          <a:lstStyle/>
          <a:p>
            <a:pPr>
              <a:spcAft>
                <a:spcPts val="800"/>
              </a:spcAft>
              <a:defRPr sz="1500" b="1">
                <a:solidFill>
                  <a:srgbClr val="087E8B"/>
                </a:solidFill>
                <a:latin typeface="DejaVu Sans"/>
              </a:defRPr>
            </a:pPr>
            <a:r>
              <a:t>Training pilot</a:t>
            </a:r>
          </a:p>
        </p:txBody>
      </p:sp>
      <p:sp>
        <p:nvSpPr>
          <p:cNvPr id="20" name="TextBox 19"/>
          <p:cNvSpPr txBox="1"/>
          <p:nvPr/>
        </p:nvSpPr>
        <p:spPr>
          <a:xfrm>
            <a:off x="3154680" y="4846320"/>
            <a:ext cx="8138160" cy="402336"/>
          </a:xfrm>
          <a:prstGeom prst="rect">
            <a:avLst/>
          </a:prstGeom>
          <a:noFill/>
        </p:spPr>
        <p:txBody>
          <a:bodyPr wrap="square" lIns="18288" rIns="18288" tIns="9144" bIns="9144">
            <a:spAutoFit/>
          </a:bodyPr>
          <a:lstStyle/>
          <a:p>
            <a:pPr>
              <a:spcAft>
                <a:spcPts val="800"/>
              </a:spcAft>
              <a:defRPr sz="1300" b="0">
                <a:solidFill>
                  <a:srgbClr val="59697A"/>
                </a:solidFill>
                <a:latin typeface="DejaVu Sans"/>
              </a:defRPr>
            </a:pPr>
            <a:r>
              <a:t>baseline/sae_experiment_20261009/RESULTS.md</a:t>
            </a:r>
          </a:p>
        </p:txBody>
      </p:sp>
      <p:sp>
        <p:nvSpPr>
          <p:cNvPr id="21" name="TextBox 20"/>
          <p:cNvSpPr txBox="1"/>
          <p:nvPr/>
        </p:nvSpPr>
        <p:spPr>
          <a:xfrm>
            <a:off x="868680" y="5760720"/>
            <a:ext cx="10515600" cy="457200"/>
          </a:xfrm>
          <a:prstGeom prst="rect">
            <a:avLst/>
          </a:prstGeom>
          <a:noFill/>
        </p:spPr>
        <p:txBody>
          <a:bodyPr wrap="square" lIns="18288" rIns="18288" tIns="9144" bIns="9144">
            <a:spAutoFit/>
          </a:bodyPr>
          <a:lstStyle/>
          <a:p>
            <a:pPr>
              <a:spcAft>
                <a:spcPts val="800"/>
              </a:spcAft>
              <a:defRPr sz="1600" b="1">
                <a:solidFill>
                  <a:srgbClr val="152B42"/>
                </a:solidFill>
                <a:latin typeface="DejaVu Sans"/>
              </a:defRPr>
            </a:pPr>
            <a:r>
              <a:t>Interpretation: successful controlled edits; no demonstrated fairness or quality improvement.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Sparse Autoencoders for Auditing Racial Bias in SDXL Turbo</dc:title>
  <dc:subject>Controlled feature interventions on existing portrait baselines</dc:subject>
  <dc:creator>Research experiment</dc:creator>
  <cp:keywords>SDXL Turbo, sparse autoencoder, racial bias, interpretability, feature intervention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