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opening: We ran a controlled feature ablation on the same prompts and seeds. The replay and no-op checks worked. The selected SAE features changed pixels, but visual review did not show reliable removal. A later box-masked test localized the edits and reduced collateral image change, while the earrings remained visible. The evidence points to weak feature-to-concept alignment and an evaluation that measured image change rather than object removal.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pilot replayed 16 same-prompt validation images using their original seeds. There were eight examples per concept: four detector-positive and four detector-negative according to unreviewed Florence-2 labels. Candidate IDs were chosen on discovery data: headscarf 1257 and earrings 4858. The diffusion model and pretrained SAE were frozen. At the tapped U-Net block, we scaled one SAE feature contribution while preserving the rest of the residual output. Strength 1 leaves the image unchanged; 0 removes that contribution; 0.5 keeps half; negative values reverse and enlarge the change relative to the original contribution. Matched random features were 2539 for headscarf and 2940 for earrings. The baseline replay was pixel-identical for all 16 images, and strength 1 was an exact no-op.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this slide carefully: The reported metric is mean absolute RGB pixel difference from the unchanged replay on a 0–255 scale. It answers how much the image changed, not whether an earring or headscarf disappeared. At strength −1, headscarf candidate change averaged 1.127 versus 0.761 for its random control. For earrings, the candidate averaged 6.334 while the random feature averaged 10.386. In inspected examples, neither zeroing nor negative scaling clearly removed the target. The low AUCs reinforce that these particular candidate IDs were not reliable semantic detectors on held-out 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follow-up mapped C2C boxes from 512 by 512 image coordinates to the SAE spatial code grid and expanded the mask by one grid cell. It compared feature 4858 reduced globally, feature 4858 reduced only inside boxes, and random feature 2940 reduced inside the same boxes. There were four examples. Strength 0 removed the contribution; 0.5 retained half; 1 was the no-op. Box masking reduced collateral image change: global candidate whole-image MAE was 4.354, versus 2.799 for box-only candidate. Inside-box MAE was 9.612 globally and 6.092 for box-only. The earrings remained in visual review. The random control also changed some images, but was zero for some because that feature was inactive at the masked locations; it is not a fully matched effective perturbation control. So the localization implementation works, while the chosen feature still does not provide reliable object removal.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limitations explain the result. First, candidate features were selected from discovery data but had weak held-out association: AUC 0.228 and 0.407. Second, pixel MAE is not an earring-presence measure; large changes can affect hair, skin, or background while leaving the jewelry intact. Third, sample sizes were only 16 in the initial pilot and four in the box-masked follow-up. Automatic labels and C2C boxes were not visually audited in this experiment. Also, a spatial box only says where to apply the edit; it cannot make a semantically mixed or unrelated feature specific to earrings. The random control should be matched for activation inside the same boxes, because a globally matched feature may be inactive locally.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plan: First, build a human-verified set of earring boxes and object-presence labels; include multiple prompt groups, seeds, and earring styles. On a held-out split, test which SAE features are active in those boxes and predict human labels. Keep feature selection separate from evaluation. If no single feature validates, test a small, prespecified feature set or a different representation rather than repeatedly selecting on the test set. Second, compare candidate edits against no-op and random controls matched for in-box activation and pixel-change scale, and tune strength only on a development split. Third, measure object presence with blinded human review or an independently validated detector, along with collateral changes outside the box and image quality. Report per-image outcomes and uncertainty, not only aggregate MAE. Set a success rule in advance: a clear decrease in earring presence, robust across seeds, with low unrelated change.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giving the advisor the two reports and their scripts. The initial experiment script prepares its manifest and runs the replayed feature interventions. The box-masked script reproduces the spatial mask comparison. Reports and CSVs are in the same folders. The runs verified exact source replay and exact no-op at strength one. State clearly that this is a small exploratory result and that the next experiment should test candidate validity and object presence directly.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1018520" cy="530352"/>
          </a:xfrm>
          <a:prstGeom prst="rect">
            <a:avLst/>
          </a:prstGeom>
          <a:noFill/>
        </p:spPr>
        <p:txBody>
          <a:bodyPr wrap="square" lIns="18288" rIns="18288" tIns="9144" bIns="9144">
            <a:spAutoFit/>
          </a:bodyPr>
          <a:lstStyle/>
          <a:p>
            <a:pPr>
              <a:defRPr sz="2600" b="1">
                <a:solidFill>
                  <a:srgbClr val="000000"/>
                </a:solidFill>
                <a:latin typeface="Arial"/>
              </a:defRPr>
            </a:pPr>
            <a:r>
              <a:t>SAE ablation did not reliably remove earrings or headscarves</a:t>
            </a:r>
          </a:p>
        </p:txBody>
      </p:sp>
      <p:sp>
        <p:nvSpPr>
          <p:cNvPr id="3" name="TextBox 2"/>
          <p:cNvSpPr txBox="1"/>
          <p:nvPr/>
        </p:nvSpPr>
        <p:spPr>
          <a:xfrm>
            <a:off x="621792" y="932688"/>
            <a:ext cx="10927080" cy="384048"/>
          </a:xfrm>
          <a:prstGeom prst="rect">
            <a:avLst/>
          </a:prstGeom>
          <a:noFill/>
        </p:spPr>
        <p:txBody>
          <a:bodyPr wrap="square" lIns="18288" rIns="18288" tIns="9144" bIns="9144">
            <a:spAutoFit/>
          </a:bodyPr>
          <a:lstStyle/>
          <a:p>
            <a:pPr>
              <a:defRPr sz="1300" b="0">
                <a:solidFill>
                  <a:srgbClr val="000000"/>
                </a:solidFill>
                <a:latin typeface="Arial"/>
              </a:defRPr>
            </a:pPr>
            <a:r>
              <a:t>Advisor briefing · matched-seed pilot followed by a C2C-box-masked earring test</a:t>
            </a:r>
          </a:p>
        </p:txBody>
      </p:sp>
      <p:sp>
        <p:nvSpPr>
          <p:cNvPr id="4" name="Rectangle 3"/>
          <p:cNvSpPr/>
          <p:nvPr/>
        </p:nvSpPr>
        <p:spPr>
          <a:xfrm>
            <a:off x="621792" y="1399032"/>
            <a:ext cx="10927080" cy="109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09960" y="6510528"/>
            <a:ext cx="411480" cy="182880"/>
          </a:xfrm>
          <a:prstGeom prst="rect">
            <a:avLst/>
          </a:prstGeom>
          <a:noFill/>
        </p:spPr>
        <p:txBody>
          <a:bodyPr wrap="square" lIns="18288" rIns="18288" tIns="9144" bIns="9144">
            <a:spAutoFit/>
          </a:bodyPr>
          <a:lstStyle/>
          <a:p>
            <a:pPr algn="r">
              <a:defRPr sz="900" b="0">
                <a:solidFill>
                  <a:srgbClr val="000000"/>
                </a:solidFill>
                <a:latin typeface="Arial"/>
              </a:defRPr>
            </a:pPr>
            <a:r>
              <a:t>01</a:t>
            </a:r>
          </a:p>
        </p:txBody>
      </p:sp>
      <p:sp>
        <p:nvSpPr>
          <p:cNvPr id="6" name="TextBox 5"/>
          <p:cNvSpPr txBox="1"/>
          <p:nvPr/>
        </p:nvSpPr>
        <p:spPr>
          <a:xfrm>
            <a:off x="822960" y="2057400"/>
            <a:ext cx="10515600" cy="594360"/>
          </a:xfrm>
          <a:prstGeom prst="rect">
            <a:avLst/>
          </a:prstGeom>
          <a:noFill/>
        </p:spPr>
        <p:txBody>
          <a:bodyPr wrap="square" lIns="18288" rIns="18288" tIns="9144" bIns="9144">
            <a:spAutoFit/>
          </a:bodyPr>
          <a:lstStyle/>
          <a:p>
            <a:pPr>
              <a:defRPr sz="2300" b="0">
                <a:solidFill>
                  <a:srgbClr val="000000"/>
                </a:solidFill>
                <a:latin typeface="Arial"/>
              </a:defRPr>
            </a:pPr>
            <a:r>
              <a:t>What worked: exact replay and controlled spatial intervention.</a:t>
            </a:r>
          </a:p>
        </p:txBody>
      </p:sp>
      <p:sp>
        <p:nvSpPr>
          <p:cNvPr id="7" name="TextBox 6"/>
          <p:cNvSpPr txBox="1"/>
          <p:nvPr/>
        </p:nvSpPr>
        <p:spPr>
          <a:xfrm>
            <a:off x="822960" y="2834640"/>
            <a:ext cx="10515600" cy="594360"/>
          </a:xfrm>
          <a:prstGeom prst="rect">
            <a:avLst/>
          </a:prstGeom>
          <a:noFill/>
        </p:spPr>
        <p:txBody>
          <a:bodyPr wrap="square" lIns="18288" rIns="18288" tIns="9144" bIns="9144">
            <a:spAutoFit/>
          </a:bodyPr>
          <a:lstStyle/>
          <a:p>
            <a:pPr>
              <a:defRPr sz="2300" b="0">
                <a:solidFill>
                  <a:srgbClr val="000000"/>
                </a:solidFill>
                <a:latin typeface="Arial"/>
              </a:defRPr>
            </a:pPr>
            <a:r>
              <a:t>What did not: consistent control of the target object.</a:t>
            </a:r>
          </a:p>
        </p:txBody>
      </p:sp>
      <p:sp>
        <p:nvSpPr>
          <p:cNvPr id="8" name="TextBox 7"/>
          <p:cNvSpPr txBox="1"/>
          <p:nvPr/>
        </p:nvSpPr>
        <p:spPr>
          <a:xfrm>
            <a:off x="822960" y="3977639"/>
            <a:ext cx="10332720" cy="1051560"/>
          </a:xfrm>
          <a:prstGeom prst="rect">
            <a:avLst/>
          </a:prstGeom>
          <a:noFill/>
        </p:spPr>
        <p:txBody>
          <a:bodyPr wrap="square" lIns="18288" rIns="18288" tIns="9144" bIns="9144">
            <a:spAutoFit/>
          </a:bodyPr>
          <a:lstStyle/>
          <a:p>
            <a:pPr>
              <a:defRPr sz="1900" b="0">
                <a:solidFill>
                  <a:srgbClr val="000000"/>
                </a:solidFill>
                <a:latin typeface="Arial"/>
              </a:defRPr>
            </a:pPr>
            <a:r>
              <a:t>Main explanation: feature 4858 was a weak held-out earring indicator, and removing its contribution did not remove the earrings in the inspected images.</a:t>
            </a:r>
          </a:p>
        </p:txBody>
      </p:sp>
      <p:sp>
        <p:nvSpPr>
          <p:cNvPr id="9" name="TextBox 8"/>
          <p:cNvSpPr txBox="1"/>
          <p:nvPr/>
        </p:nvSpPr>
        <p:spPr>
          <a:xfrm>
            <a:off x="822960" y="5577840"/>
            <a:ext cx="10424160" cy="457200"/>
          </a:xfrm>
          <a:prstGeom prst="rect">
            <a:avLst/>
          </a:prstGeom>
          <a:noFill/>
        </p:spPr>
        <p:txBody>
          <a:bodyPr wrap="square" lIns="18288" rIns="18288" tIns="9144" bIns="9144">
            <a:spAutoFit/>
          </a:bodyPr>
          <a:lstStyle/>
          <a:p>
            <a:pPr>
              <a:defRPr sz="1500" b="0">
                <a:solidFill>
                  <a:srgbClr val="000000"/>
                </a:solidFill>
                <a:latin typeface="Arial"/>
              </a:defRPr>
            </a:pPr>
            <a:r>
              <a:t>Conclusion is limited to this small exploratory pilot; it does not establish a fairness effect.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1018520" cy="530352"/>
          </a:xfrm>
          <a:prstGeom prst="rect">
            <a:avLst/>
          </a:prstGeom>
          <a:noFill/>
        </p:spPr>
        <p:txBody>
          <a:bodyPr wrap="square" lIns="18288" rIns="18288" tIns="9144" bIns="9144">
            <a:spAutoFit/>
          </a:bodyPr>
          <a:lstStyle/>
          <a:p>
            <a:pPr>
              <a:defRPr sz="2600" b="1">
                <a:solidFill>
                  <a:srgbClr val="000000"/>
                </a:solidFill>
                <a:latin typeface="Arial"/>
              </a:defRPr>
            </a:pPr>
            <a:r>
              <a:t>What we did in the first pilot</a:t>
            </a:r>
          </a:p>
        </p:txBody>
      </p:sp>
      <p:sp>
        <p:nvSpPr>
          <p:cNvPr id="3" name="TextBox 2"/>
          <p:cNvSpPr txBox="1"/>
          <p:nvPr/>
        </p:nvSpPr>
        <p:spPr>
          <a:xfrm>
            <a:off x="621792" y="932688"/>
            <a:ext cx="10927080" cy="384048"/>
          </a:xfrm>
          <a:prstGeom prst="rect">
            <a:avLst/>
          </a:prstGeom>
          <a:noFill/>
        </p:spPr>
        <p:txBody>
          <a:bodyPr wrap="square" lIns="18288" rIns="18288" tIns="9144" bIns="9144">
            <a:spAutoFit/>
          </a:bodyPr>
          <a:lstStyle/>
          <a:p>
            <a:pPr>
              <a:defRPr sz="1300" b="0">
                <a:solidFill>
                  <a:srgbClr val="000000"/>
                </a:solidFill>
                <a:latin typeface="Arial"/>
              </a:defRPr>
            </a:pPr>
            <a:r>
              <a:t>Same prompt and seed isolate the feature edit from ordinary generation variation.</a:t>
            </a:r>
          </a:p>
        </p:txBody>
      </p:sp>
      <p:sp>
        <p:nvSpPr>
          <p:cNvPr id="4" name="Rectangle 3"/>
          <p:cNvSpPr/>
          <p:nvPr/>
        </p:nvSpPr>
        <p:spPr>
          <a:xfrm>
            <a:off x="621792" y="1399032"/>
            <a:ext cx="10927080" cy="109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09960" y="6510528"/>
            <a:ext cx="411480" cy="182880"/>
          </a:xfrm>
          <a:prstGeom prst="rect">
            <a:avLst/>
          </a:prstGeom>
          <a:noFill/>
        </p:spPr>
        <p:txBody>
          <a:bodyPr wrap="square" lIns="18288" rIns="18288" tIns="9144" bIns="9144">
            <a:spAutoFit/>
          </a:bodyPr>
          <a:lstStyle/>
          <a:p>
            <a:pPr algn="r">
              <a:defRPr sz="900" b="0">
                <a:solidFill>
                  <a:srgbClr val="000000"/>
                </a:solidFill>
                <a:latin typeface="Arial"/>
              </a:defRPr>
            </a:pPr>
            <a:r>
              <a:t>02</a:t>
            </a:r>
          </a:p>
        </p:txBody>
      </p:sp>
      <p:sp>
        <p:nvSpPr>
          <p:cNvPr id="6" name="TextBox 5"/>
          <p:cNvSpPr txBox="1"/>
          <p:nvPr/>
        </p:nvSpPr>
        <p:spPr>
          <a:xfrm>
            <a:off x="749808" y="1737360"/>
            <a:ext cx="10698480" cy="502920"/>
          </a:xfrm>
          <a:prstGeom prst="rect">
            <a:avLst/>
          </a:prstGeom>
          <a:noFill/>
        </p:spPr>
        <p:txBody>
          <a:bodyPr wrap="square" lIns="18288" rIns="18288" tIns="9144" bIns="9144">
            <a:spAutoFit/>
          </a:bodyPr>
          <a:lstStyle/>
          <a:p>
            <a:pPr>
              <a:defRPr sz="1800" b="0">
                <a:solidFill>
                  <a:srgbClr val="000000"/>
                </a:solidFill>
                <a:latin typeface="Arial"/>
              </a:defRPr>
            </a:pPr>
            <a:r>
              <a:t>16 validation images total · 8 per concept · 4 automatic-label positives and 4 negatives per concept</a:t>
            </a:r>
          </a:p>
        </p:txBody>
      </p:sp>
      <p:sp>
        <p:nvSpPr>
          <p:cNvPr id="7" name="TextBox 6"/>
          <p:cNvSpPr txBox="1"/>
          <p:nvPr/>
        </p:nvSpPr>
        <p:spPr>
          <a:xfrm>
            <a:off x="749808" y="2423160"/>
            <a:ext cx="10698480" cy="502920"/>
          </a:xfrm>
          <a:prstGeom prst="rect">
            <a:avLst/>
          </a:prstGeom>
          <a:noFill/>
        </p:spPr>
        <p:txBody>
          <a:bodyPr wrap="square" lIns="18288" rIns="18288" tIns="9144" bIns="9144">
            <a:spAutoFit/>
          </a:bodyPr>
          <a:lstStyle/>
          <a:p>
            <a:pPr>
              <a:defRPr sz="1800" b="0">
                <a:solidFill>
                  <a:srgbClr val="000000"/>
                </a:solidFill>
                <a:latin typeface="Arial"/>
              </a:defRPr>
            </a:pPr>
            <a:r>
              <a:t>Frozen pretrained SAE and diffusion model · one U-Net feature contribution scaled per run</a:t>
            </a:r>
          </a:p>
        </p:txBody>
      </p:sp>
      <p:graphicFrame>
        <p:nvGraphicFramePr>
          <p:cNvPr id="8" name="Table 7"/>
          <p:cNvGraphicFramePr>
            <a:graphicFrameLocks noGrp="1"/>
          </p:cNvGraphicFramePr>
          <p:nvPr/>
        </p:nvGraphicFramePr>
        <p:xfrm>
          <a:off x="822960" y="3246120"/>
          <a:ext cx="8778240" cy="1426464"/>
        </p:xfrm>
        <a:graphic>
          <a:graphicData uri="http://schemas.openxmlformats.org/drawingml/2006/table">
            <a:tbl>
              <a:tblPr firstRow="1" bandRow="1">
                <a:tableStyleId>{5C22544A-7EE6-4342-B048-85BDC9FD1C3A}</a:tableStyleId>
              </a:tblPr>
              <a:tblGrid>
                <a:gridCol w="2011680"/>
                <a:gridCol w="2194560"/>
                <a:gridCol w="2194560"/>
                <a:gridCol w="2377440"/>
              </a:tblGrid>
              <a:tr h="475488">
                <a:tc>
                  <a:txBody>
                    <a:bodyPr/>
                    <a:lstStyle/>
                    <a:p>
                      <a:pPr>
                        <a:defRPr sz="1600" b="1">
                          <a:solidFill>
                            <a:srgbClr val="000000"/>
                          </a:solidFill>
                          <a:latin typeface="Arial"/>
                        </a:defRPr>
                      </a:pPr>
                      <a:r>
                        <a:t>Concept</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600" b="1">
                          <a:solidFill>
                            <a:srgbClr val="000000"/>
                          </a:solidFill>
                          <a:latin typeface="Arial"/>
                        </a:defRPr>
                      </a:pPr>
                      <a:r>
                        <a:t>Candidate</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600" b="1">
                          <a:solidFill>
                            <a:srgbClr val="000000"/>
                          </a:solidFill>
                          <a:latin typeface="Arial"/>
                        </a:defRPr>
                      </a:pPr>
                      <a:r>
                        <a:t>Random control</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600" b="1">
                          <a:solidFill>
                            <a:srgbClr val="000000"/>
                          </a:solidFill>
                          <a:latin typeface="Arial"/>
                        </a:defRPr>
                      </a:pPr>
                      <a:r>
                        <a:t>Held-out AUC</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475488">
                <a:tc>
                  <a:txBody>
                    <a:bodyPr/>
                    <a:lstStyle/>
                    <a:p>
                      <a:pPr>
                        <a:defRPr sz="1600" b="0">
                          <a:solidFill>
                            <a:srgbClr val="000000"/>
                          </a:solidFill>
                          <a:latin typeface="Arial"/>
                        </a:defRPr>
                      </a:pPr>
                      <a:r>
                        <a:t>Headscarf</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600" b="0">
                          <a:solidFill>
                            <a:srgbClr val="000000"/>
                          </a:solidFill>
                          <a:latin typeface="Arial"/>
                        </a:defRPr>
                      </a:pPr>
                      <a:r>
                        <a:t>1257</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600" b="0">
                          <a:solidFill>
                            <a:srgbClr val="000000"/>
                          </a:solidFill>
                          <a:latin typeface="Arial"/>
                        </a:defRPr>
                      </a:pPr>
                      <a:r>
                        <a:t>2539</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600" b="0">
                          <a:solidFill>
                            <a:srgbClr val="000000"/>
                          </a:solidFill>
                          <a:latin typeface="Arial"/>
                        </a:defRPr>
                      </a:pPr>
                      <a:r>
                        <a:t>0.228</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475488">
                <a:tc>
                  <a:txBody>
                    <a:bodyPr/>
                    <a:lstStyle/>
                    <a:p>
                      <a:pPr>
                        <a:defRPr sz="1600" b="0">
                          <a:solidFill>
                            <a:srgbClr val="000000"/>
                          </a:solidFill>
                          <a:latin typeface="Arial"/>
                        </a:defRPr>
                      </a:pPr>
                      <a:r>
                        <a:t>Earrings</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600" b="0">
                          <a:solidFill>
                            <a:srgbClr val="000000"/>
                          </a:solidFill>
                          <a:latin typeface="Arial"/>
                        </a:defRPr>
                      </a:pPr>
                      <a:r>
                        <a:t>4858</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600" b="0">
                          <a:solidFill>
                            <a:srgbClr val="000000"/>
                          </a:solidFill>
                          <a:latin typeface="Arial"/>
                        </a:defRPr>
                      </a:pPr>
                      <a:r>
                        <a:t>2940</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600" b="0">
                          <a:solidFill>
                            <a:srgbClr val="000000"/>
                          </a:solidFill>
                          <a:latin typeface="Arial"/>
                        </a:defRPr>
                      </a:pPr>
                      <a:r>
                        <a:t>0.407</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sp>
        <p:nvSpPr>
          <p:cNvPr id="9" name="TextBox 8"/>
          <p:cNvSpPr txBox="1"/>
          <p:nvPr/>
        </p:nvSpPr>
        <p:spPr>
          <a:xfrm>
            <a:off x="822960" y="5074920"/>
            <a:ext cx="10424160" cy="685800"/>
          </a:xfrm>
          <a:prstGeom prst="rect">
            <a:avLst/>
          </a:prstGeom>
          <a:noFill/>
        </p:spPr>
        <p:txBody>
          <a:bodyPr wrap="square" lIns="18288" rIns="18288" tIns="9144" bIns="9144">
            <a:spAutoFit/>
          </a:bodyPr>
          <a:lstStyle/>
          <a:p>
            <a:pPr>
              <a:defRPr sz="1600" b="0">
                <a:solidFill>
                  <a:srgbClr val="000000"/>
                </a:solidFill>
                <a:latin typeface="Arial"/>
              </a:defRPr>
            </a:pPr>
            <a:r>
              <a:t>AUC values below 0.5 indicate these candidate activations ranked held-out positives below negatives in this comparison.</a:t>
            </a:r>
          </a:p>
        </p:txBody>
      </p:sp>
      <p:sp>
        <p:nvSpPr>
          <p:cNvPr id="10" name="TextBox 9"/>
          <p:cNvSpPr txBox="1"/>
          <p:nvPr/>
        </p:nvSpPr>
        <p:spPr>
          <a:xfrm>
            <a:off x="822960" y="5897880"/>
            <a:ext cx="10607040" cy="320040"/>
          </a:xfrm>
          <a:prstGeom prst="rect">
            <a:avLst/>
          </a:prstGeom>
          <a:noFill/>
        </p:spPr>
        <p:txBody>
          <a:bodyPr wrap="square" lIns="18288" rIns="18288" tIns="9144" bIns="9144">
            <a:spAutoFit/>
          </a:bodyPr>
          <a:lstStyle/>
          <a:p>
            <a:pPr>
              <a:defRPr sz="1400" b="0">
                <a:solidFill>
                  <a:srgbClr val="000000"/>
                </a:solidFill>
                <a:latin typeface="Arial"/>
              </a:defRPr>
            </a:pPr>
            <a:r>
              <a:t>Strengths tested: −1, −0.5, 0, 0.5, 1. Pixel MAE records visual change, not target presence.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1018520" cy="530352"/>
          </a:xfrm>
          <a:prstGeom prst="rect">
            <a:avLst/>
          </a:prstGeom>
          <a:noFill/>
        </p:spPr>
        <p:txBody>
          <a:bodyPr wrap="square" lIns="18288" rIns="18288" tIns="9144" bIns="9144">
            <a:spAutoFit/>
          </a:bodyPr>
          <a:lstStyle/>
          <a:p>
            <a:pPr>
              <a:defRPr sz="2600" b="1">
                <a:solidFill>
                  <a:srgbClr val="000000"/>
                </a:solidFill>
                <a:latin typeface="Arial"/>
              </a:defRPr>
            </a:pPr>
            <a:r>
              <a:t>The first pilot showed change, not reliable object control</a:t>
            </a:r>
          </a:p>
        </p:txBody>
      </p:sp>
      <p:sp>
        <p:nvSpPr>
          <p:cNvPr id="3" name="TextBox 2"/>
          <p:cNvSpPr txBox="1"/>
          <p:nvPr/>
        </p:nvSpPr>
        <p:spPr>
          <a:xfrm>
            <a:off x="621792" y="932688"/>
            <a:ext cx="10927080" cy="384048"/>
          </a:xfrm>
          <a:prstGeom prst="rect">
            <a:avLst/>
          </a:prstGeom>
          <a:noFill/>
        </p:spPr>
        <p:txBody>
          <a:bodyPr wrap="square" lIns="18288" rIns="18288" tIns="9144" bIns="9144">
            <a:spAutoFit/>
          </a:bodyPr>
          <a:lstStyle/>
          <a:p>
            <a:pPr>
              <a:defRPr sz="1300" b="0">
                <a:solidFill>
                  <a:srgbClr val="000000"/>
                </a:solidFill>
                <a:latin typeface="Arial"/>
              </a:defRPr>
            </a:pPr>
            <a:r>
              <a:t>Negative strength perturbed more; the random earring feature perturbed the image more than the candidate.</a:t>
            </a:r>
          </a:p>
        </p:txBody>
      </p:sp>
      <p:sp>
        <p:nvSpPr>
          <p:cNvPr id="4" name="Rectangle 3"/>
          <p:cNvSpPr/>
          <p:nvPr/>
        </p:nvSpPr>
        <p:spPr>
          <a:xfrm>
            <a:off x="621792" y="1399032"/>
            <a:ext cx="10927080" cy="109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09960" y="6510528"/>
            <a:ext cx="411480" cy="182880"/>
          </a:xfrm>
          <a:prstGeom prst="rect">
            <a:avLst/>
          </a:prstGeom>
          <a:noFill/>
        </p:spPr>
        <p:txBody>
          <a:bodyPr wrap="square" lIns="18288" rIns="18288" tIns="9144" bIns="9144">
            <a:spAutoFit/>
          </a:bodyPr>
          <a:lstStyle/>
          <a:p>
            <a:pPr algn="r">
              <a:defRPr sz="900" b="0">
                <a:solidFill>
                  <a:srgbClr val="000000"/>
                </a:solidFill>
                <a:latin typeface="Arial"/>
              </a:defRPr>
            </a:pPr>
            <a:r>
              <a:t>03</a:t>
            </a:r>
          </a:p>
        </p:txBody>
      </p:sp>
      <p:graphicFrame>
        <p:nvGraphicFramePr>
          <p:cNvPr id="6" name="Table 5"/>
          <p:cNvGraphicFramePr>
            <a:graphicFrameLocks noGrp="1"/>
          </p:cNvGraphicFramePr>
          <p:nvPr/>
        </p:nvGraphicFramePr>
        <p:xfrm>
          <a:off x="822960" y="1874519"/>
          <a:ext cx="9875520" cy="2468880"/>
        </p:xfrm>
        <a:graphic>
          <a:graphicData uri="http://schemas.openxmlformats.org/drawingml/2006/table">
            <a:tbl>
              <a:tblPr firstRow="1" bandRow="1">
                <a:tableStyleId>{5C22544A-7EE6-4342-B048-85BDC9FD1C3A}</a:tableStyleId>
              </a:tblPr>
              <a:tblGrid>
                <a:gridCol w="1828800"/>
                <a:gridCol w="1371600"/>
                <a:gridCol w="2194560"/>
                <a:gridCol w="2286000"/>
                <a:gridCol w="2194560"/>
              </a:tblGrid>
              <a:tr h="493776">
                <a:tc>
                  <a:txBody>
                    <a:bodyPr/>
                    <a:lstStyle/>
                    <a:p>
                      <a:pPr>
                        <a:defRPr sz="1400" b="1">
                          <a:solidFill>
                            <a:srgbClr val="000000"/>
                          </a:solidFill>
                          <a:latin typeface="Arial"/>
                        </a:defRPr>
                      </a:pPr>
                      <a:r>
                        <a:t>Concept</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400" b="1">
                          <a:solidFill>
                            <a:srgbClr val="000000"/>
                          </a:solidFill>
                          <a:latin typeface="Arial"/>
                        </a:defRPr>
                      </a:pPr>
                      <a:r>
                        <a:t>Strength</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400" b="1">
                          <a:solidFill>
                            <a:srgbClr val="000000"/>
                          </a:solidFill>
                          <a:latin typeface="Arial"/>
                        </a:defRPr>
                      </a:pPr>
                      <a:r>
                        <a:t>Candidate MAE</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400" b="1">
                          <a:solidFill>
                            <a:srgbClr val="000000"/>
                          </a:solidFill>
                          <a:latin typeface="Arial"/>
                        </a:defRPr>
                      </a:pPr>
                      <a:r>
                        <a:t>Random MAE</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400" b="1">
                          <a:solidFill>
                            <a:srgbClr val="000000"/>
                          </a:solidFill>
                          <a:latin typeface="Arial"/>
                        </a:defRPr>
                      </a:pPr>
                      <a:r>
                        <a:t>Visual result</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493776">
                <a:tc>
                  <a:txBody>
                    <a:bodyPr/>
                    <a:lstStyle/>
                    <a:p>
                      <a:pPr>
                        <a:defRPr sz="1400" b="0">
                          <a:solidFill>
                            <a:srgbClr val="000000"/>
                          </a:solidFill>
                          <a:latin typeface="Arial"/>
                        </a:defRPr>
                      </a:pPr>
                      <a:r>
                        <a:t>Headscarf</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400" b="0">
                          <a:solidFill>
                            <a:srgbClr val="000000"/>
                          </a:solidFill>
                          <a:latin typeface="Arial"/>
                        </a:defRPr>
                      </a:pPr>
                      <a:r>
                        <a:t>0</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400" b="0">
                          <a:solidFill>
                            <a:srgbClr val="000000"/>
                          </a:solidFill>
                          <a:latin typeface="Arial"/>
                        </a:defRPr>
                      </a:pPr>
                      <a:r>
                        <a:t>0.765</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400" b="0">
                          <a:solidFill>
                            <a:srgbClr val="000000"/>
                          </a:solidFill>
                          <a:latin typeface="Arial"/>
                        </a:defRPr>
                      </a:pPr>
                      <a:r>
                        <a:t>0.577</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400" b="0">
                          <a:solidFill>
                            <a:srgbClr val="000000"/>
                          </a:solidFill>
                          <a:latin typeface="Arial"/>
                        </a:defRPr>
                      </a:pPr>
                      <a:r>
                        <a:t>No clear removal</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493776">
                <a:tc>
                  <a:txBody>
                    <a:bodyPr/>
                    <a:lstStyle/>
                    <a:p>
                      <a:pPr>
                        <a:defRPr sz="1400" b="0">
                          <a:solidFill>
                            <a:srgbClr val="000000"/>
                          </a:solidFill>
                          <a:latin typeface="Arial"/>
                        </a:defRPr>
                      </a:pPr>
                      <a:r>
                        <a:t>Headscarf</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400" b="0">
                          <a:solidFill>
                            <a:srgbClr val="000000"/>
                          </a:solidFill>
                          <a:latin typeface="Arial"/>
                        </a:defRPr>
                      </a:pPr>
                      <a:r>
                        <a:t>−1</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400" b="0">
                          <a:solidFill>
                            <a:srgbClr val="000000"/>
                          </a:solidFill>
                          <a:latin typeface="Arial"/>
                        </a:defRPr>
                      </a:pPr>
                      <a:r>
                        <a:t>1.127</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400" b="0">
                          <a:solidFill>
                            <a:srgbClr val="000000"/>
                          </a:solidFill>
                          <a:latin typeface="Arial"/>
                        </a:defRPr>
                      </a:pPr>
                      <a:r>
                        <a:t>0.761</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400" b="0">
                          <a:solidFill>
                            <a:srgbClr val="000000"/>
                          </a:solidFill>
                          <a:latin typeface="Arial"/>
                        </a:defRPr>
                      </a:pPr>
                      <a:r>
                        <a:t>No clear removal</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493776">
                <a:tc>
                  <a:txBody>
                    <a:bodyPr/>
                    <a:lstStyle/>
                    <a:p>
                      <a:pPr>
                        <a:defRPr sz="1400" b="0">
                          <a:solidFill>
                            <a:srgbClr val="000000"/>
                          </a:solidFill>
                          <a:latin typeface="Arial"/>
                        </a:defRPr>
                      </a:pPr>
                      <a:r>
                        <a:t>Earrings</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400" b="0">
                          <a:solidFill>
                            <a:srgbClr val="000000"/>
                          </a:solidFill>
                          <a:latin typeface="Arial"/>
                        </a:defRPr>
                      </a:pPr>
                      <a:r>
                        <a:t>0</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400" b="0">
                          <a:solidFill>
                            <a:srgbClr val="000000"/>
                          </a:solidFill>
                          <a:latin typeface="Arial"/>
                        </a:defRPr>
                      </a:pPr>
                      <a:r>
                        <a:t>3.658</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400" b="0">
                          <a:solidFill>
                            <a:srgbClr val="000000"/>
                          </a:solidFill>
                          <a:latin typeface="Arial"/>
                        </a:defRPr>
                      </a:pPr>
                      <a:r>
                        <a:t>6.359</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400" b="0">
                          <a:solidFill>
                            <a:srgbClr val="000000"/>
                          </a:solidFill>
                          <a:latin typeface="Arial"/>
                        </a:defRPr>
                      </a:pPr>
                      <a:r>
                        <a:t>No clear removal</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493776">
                <a:tc>
                  <a:txBody>
                    <a:bodyPr/>
                    <a:lstStyle/>
                    <a:p>
                      <a:pPr>
                        <a:defRPr sz="1400" b="0">
                          <a:solidFill>
                            <a:srgbClr val="000000"/>
                          </a:solidFill>
                          <a:latin typeface="Arial"/>
                        </a:defRPr>
                      </a:pPr>
                      <a:r>
                        <a:t>Earrings</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400" b="0">
                          <a:solidFill>
                            <a:srgbClr val="000000"/>
                          </a:solidFill>
                          <a:latin typeface="Arial"/>
                        </a:defRPr>
                      </a:pPr>
                      <a:r>
                        <a:t>−1</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400" b="0">
                          <a:solidFill>
                            <a:srgbClr val="000000"/>
                          </a:solidFill>
                          <a:latin typeface="Arial"/>
                        </a:defRPr>
                      </a:pPr>
                      <a:r>
                        <a:t>6.334</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400" b="0">
                          <a:solidFill>
                            <a:srgbClr val="000000"/>
                          </a:solidFill>
                          <a:latin typeface="Arial"/>
                        </a:defRPr>
                      </a:pPr>
                      <a:r>
                        <a:t>10.386</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400" b="0">
                          <a:solidFill>
                            <a:srgbClr val="000000"/>
                          </a:solidFill>
                          <a:latin typeface="Arial"/>
                        </a:defRPr>
                      </a:pPr>
                      <a:r>
                        <a:t>No clear removal</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sp>
        <p:nvSpPr>
          <p:cNvPr id="7" name="TextBox 6"/>
          <p:cNvSpPr txBox="1"/>
          <p:nvPr/>
        </p:nvSpPr>
        <p:spPr>
          <a:xfrm>
            <a:off x="822960" y="4800600"/>
            <a:ext cx="10332720" cy="475488"/>
          </a:xfrm>
          <a:prstGeom prst="rect">
            <a:avLst/>
          </a:prstGeom>
          <a:noFill/>
        </p:spPr>
        <p:txBody>
          <a:bodyPr wrap="square" lIns="18288" rIns="18288" tIns="9144" bIns="9144">
            <a:spAutoFit/>
          </a:bodyPr>
          <a:lstStyle/>
          <a:p>
            <a:pPr>
              <a:defRPr sz="1700" b="0">
                <a:solidFill>
                  <a:srgbClr val="000000"/>
                </a:solidFill>
                <a:latin typeface="Arial"/>
              </a:defRPr>
            </a:pPr>
            <a:r>
              <a:t>MAE is RGB pixel change on a 0–255 scale. More change is not evidence of better removal.</a:t>
            </a:r>
          </a:p>
        </p:txBody>
      </p:sp>
      <p:sp>
        <p:nvSpPr>
          <p:cNvPr id="8" name="TextBox 7"/>
          <p:cNvSpPr txBox="1"/>
          <p:nvPr/>
        </p:nvSpPr>
        <p:spPr>
          <a:xfrm>
            <a:off x="822960" y="5440680"/>
            <a:ext cx="10515600" cy="713232"/>
          </a:xfrm>
          <a:prstGeom prst="rect">
            <a:avLst/>
          </a:prstGeom>
          <a:noFill/>
        </p:spPr>
        <p:txBody>
          <a:bodyPr wrap="square" lIns="18288" rIns="18288" tIns="9144" bIns="9144">
            <a:spAutoFit/>
          </a:bodyPr>
          <a:lstStyle/>
          <a:p>
            <a:pPr>
              <a:defRPr sz="1600" b="0">
                <a:solidFill>
                  <a:srgbClr val="000000"/>
                </a:solidFill>
                <a:latin typeface="Arial"/>
              </a:defRPr>
            </a:pPr>
            <a:r>
              <a:t>Small sample; source labels were unreviewed Florence-2 outputs, and detector negatives may include missed objects.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1018520" cy="530352"/>
          </a:xfrm>
          <a:prstGeom prst="rect">
            <a:avLst/>
          </a:prstGeom>
          <a:noFill/>
        </p:spPr>
        <p:txBody>
          <a:bodyPr wrap="square" lIns="18288" rIns="18288" tIns="9144" bIns="9144">
            <a:spAutoFit/>
          </a:bodyPr>
          <a:lstStyle/>
          <a:p>
            <a:pPr>
              <a:defRPr sz="2600" b="1">
                <a:solidFill>
                  <a:srgbClr val="000000"/>
                </a:solidFill>
                <a:latin typeface="Arial"/>
              </a:defRPr>
            </a:pPr>
            <a:r>
              <a:t>C2C boxes localized feature 4858 but earrings remained</a:t>
            </a:r>
          </a:p>
        </p:txBody>
      </p:sp>
      <p:sp>
        <p:nvSpPr>
          <p:cNvPr id="3" name="TextBox 2"/>
          <p:cNvSpPr txBox="1"/>
          <p:nvPr/>
        </p:nvSpPr>
        <p:spPr>
          <a:xfrm>
            <a:off x="621792" y="932688"/>
            <a:ext cx="10927080" cy="384048"/>
          </a:xfrm>
          <a:prstGeom prst="rect">
            <a:avLst/>
          </a:prstGeom>
          <a:noFill/>
        </p:spPr>
        <p:txBody>
          <a:bodyPr wrap="square" lIns="18288" rIns="18288" tIns="9144" bIns="9144">
            <a:spAutoFit/>
          </a:bodyPr>
          <a:lstStyle/>
          <a:p>
            <a:pPr>
              <a:defRPr sz="1300" b="0">
                <a:solidFill>
                  <a:srgbClr val="000000"/>
                </a:solidFill>
                <a:latin typeface="Arial"/>
              </a:defRPr>
            </a:pPr>
            <a:r>
              <a:t>Follow-up: four same-prompt validation positives, with intervention restricted to C2C earring boxes.</a:t>
            </a:r>
          </a:p>
        </p:txBody>
      </p:sp>
      <p:sp>
        <p:nvSpPr>
          <p:cNvPr id="4" name="Rectangle 3"/>
          <p:cNvSpPr/>
          <p:nvPr/>
        </p:nvSpPr>
        <p:spPr>
          <a:xfrm>
            <a:off x="621792" y="1399032"/>
            <a:ext cx="10927080" cy="109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09960" y="6510528"/>
            <a:ext cx="411480" cy="182880"/>
          </a:xfrm>
          <a:prstGeom prst="rect">
            <a:avLst/>
          </a:prstGeom>
          <a:noFill/>
        </p:spPr>
        <p:txBody>
          <a:bodyPr wrap="square" lIns="18288" rIns="18288" tIns="9144" bIns="9144">
            <a:spAutoFit/>
          </a:bodyPr>
          <a:lstStyle/>
          <a:p>
            <a:pPr algn="r">
              <a:defRPr sz="900" b="0">
                <a:solidFill>
                  <a:srgbClr val="000000"/>
                </a:solidFill>
                <a:latin typeface="Arial"/>
              </a:defRPr>
            </a:pPr>
            <a:r>
              <a:t>04</a:t>
            </a:r>
          </a:p>
        </p:txBody>
      </p:sp>
      <p:graphicFrame>
        <p:nvGraphicFramePr>
          <p:cNvPr id="6" name="Table 5"/>
          <p:cNvGraphicFramePr>
            <a:graphicFrameLocks noGrp="1"/>
          </p:cNvGraphicFramePr>
          <p:nvPr/>
        </p:nvGraphicFramePr>
        <p:xfrm>
          <a:off x="658368" y="1737360"/>
          <a:ext cx="10332720" cy="2048256"/>
        </p:xfrm>
        <a:graphic>
          <a:graphicData uri="http://schemas.openxmlformats.org/drawingml/2006/table">
            <a:tbl>
              <a:tblPr firstRow="1" bandRow="1">
                <a:tableStyleId>{5C22544A-7EE6-4342-B048-85BDC9FD1C3A}</a:tableStyleId>
              </a:tblPr>
              <a:tblGrid>
                <a:gridCol w="2148840"/>
                <a:gridCol w="2286000"/>
                <a:gridCol w="1965960"/>
                <a:gridCol w="1965960"/>
                <a:gridCol w="1965960"/>
              </a:tblGrid>
              <a:tr h="512064">
                <a:tc>
                  <a:txBody>
                    <a:bodyPr/>
                    <a:lstStyle/>
                    <a:p>
                      <a:pPr>
                        <a:defRPr sz="1300" b="1">
                          <a:solidFill>
                            <a:srgbClr val="000000"/>
                          </a:solidFill>
                          <a:latin typeface="Arial"/>
                        </a:defRPr>
                      </a:pPr>
                      <a:r>
                        <a:t>Condition at strength 0</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300" b="1">
                          <a:solidFill>
                            <a:srgbClr val="000000"/>
                          </a:solidFill>
                          <a:latin typeface="Arial"/>
                        </a:defRPr>
                      </a:pPr>
                      <a:r>
                        <a:t>Feature</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300" b="1">
                          <a:solidFill>
                            <a:srgbClr val="000000"/>
                          </a:solidFill>
                          <a:latin typeface="Arial"/>
                        </a:defRPr>
                      </a:pPr>
                      <a:r>
                        <a:t>Whole-image MAE</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300" b="1">
                          <a:solidFill>
                            <a:srgbClr val="000000"/>
                          </a:solidFill>
                          <a:latin typeface="Arial"/>
                        </a:defRPr>
                      </a:pPr>
                      <a:r>
                        <a:t>Inside-box MAE</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300" b="1">
                          <a:solidFill>
                            <a:srgbClr val="000000"/>
                          </a:solidFill>
                          <a:latin typeface="Arial"/>
                        </a:defRPr>
                      </a:pPr>
                      <a:r>
                        <a:t>Outside-box MAE</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512064">
                <a:tc>
                  <a:txBody>
                    <a:bodyPr/>
                    <a:lstStyle/>
                    <a:p>
                      <a:pPr>
                        <a:defRPr sz="1300" b="0">
                          <a:solidFill>
                            <a:srgbClr val="000000"/>
                          </a:solidFill>
                          <a:latin typeface="Arial"/>
                        </a:defRPr>
                      </a:pPr>
                      <a:r>
                        <a:t>Candidate, global</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300" b="0">
                          <a:solidFill>
                            <a:srgbClr val="000000"/>
                          </a:solidFill>
                          <a:latin typeface="Arial"/>
                        </a:defRPr>
                      </a:pPr>
                      <a:r>
                        <a:t>4858</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300" b="0">
                          <a:solidFill>
                            <a:srgbClr val="000000"/>
                          </a:solidFill>
                          <a:latin typeface="Arial"/>
                        </a:defRPr>
                      </a:pPr>
                      <a:r>
                        <a:t>4.354</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300" b="0">
                          <a:solidFill>
                            <a:srgbClr val="000000"/>
                          </a:solidFill>
                          <a:latin typeface="Arial"/>
                        </a:defRPr>
                      </a:pPr>
                      <a:r>
                        <a:t>9.612</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300" b="0">
                          <a:solidFill>
                            <a:srgbClr val="000000"/>
                          </a:solidFill>
                          <a:latin typeface="Arial"/>
                        </a:defRPr>
                      </a:pPr>
                      <a:r>
                        <a:t>4.318</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512064">
                <a:tc>
                  <a:txBody>
                    <a:bodyPr/>
                    <a:lstStyle/>
                    <a:p>
                      <a:pPr>
                        <a:defRPr sz="1300" b="0">
                          <a:solidFill>
                            <a:srgbClr val="000000"/>
                          </a:solidFill>
                          <a:latin typeface="Arial"/>
                        </a:defRPr>
                      </a:pPr>
                      <a:r>
                        <a:t>Candidate, C2C boxes</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300" b="0">
                          <a:solidFill>
                            <a:srgbClr val="000000"/>
                          </a:solidFill>
                          <a:latin typeface="Arial"/>
                        </a:defRPr>
                      </a:pPr>
                      <a:r>
                        <a:t>4858</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300" b="0">
                          <a:solidFill>
                            <a:srgbClr val="000000"/>
                          </a:solidFill>
                          <a:latin typeface="Arial"/>
                        </a:defRPr>
                      </a:pPr>
                      <a:r>
                        <a:t>2.799</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300" b="0">
                          <a:solidFill>
                            <a:srgbClr val="000000"/>
                          </a:solidFill>
                          <a:latin typeface="Arial"/>
                        </a:defRPr>
                      </a:pPr>
                      <a:r>
                        <a:t>6.092</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300" b="0">
                          <a:solidFill>
                            <a:srgbClr val="000000"/>
                          </a:solidFill>
                          <a:latin typeface="Arial"/>
                        </a:defRPr>
                      </a:pPr>
                      <a:r>
                        <a:t>2.775</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512064">
                <a:tc>
                  <a:txBody>
                    <a:bodyPr/>
                    <a:lstStyle/>
                    <a:p>
                      <a:pPr>
                        <a:defRPr sz="1300" b="0">
                          <a:solidFill>
                            <a:srgbClr val="000000"/>
                          </a:solidFill>
                          <a:latin typeface="Arial"/>
                        </a:defRPr>
                      </a:pPr>
                      <a:r>
                        <a:t>Random, C2C boxes</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300" b="0">
                          <a:solidFill>
                            <a:srgbClr val="000000"/>
                          </a:solidFill>
                          <a:latin typeface="Arial"/>
                        </a:defRPr>
                      </a:pPr>
                      <a:r>
                        <a:t>2940</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300" b="0">
                          <a:solidFill>
                            <a:srgbClr val="000000"/>
                          </a:solidFill>
                          <a:latin typeface="Arial"/>
                        </a:defRPr>
                      </a:pPr>
                      <a:r>
                        <a:t>0.831</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300" b="0">
                          <a:solidFill>
                            <a:srgbClr val="000000"/>
                          </a:solidFill>
                          <a:latin typeface="Arial"/>
                        </a:defRPr>
                      </a:pPr>
                      <a:r>
                        <a:t>1.578</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defRPr sz="1300" b="0">
                          <a:solidFill>
                            <a:srgbClr val="000000"/>
                          </a:solidFill>
                          <a:latin typeface="Arial"/>
                        </a:defRPr>
                      </a:pPr>
                      <a:r>
                        <a:t>0.826</a:t>
                      </a:r>
                    </a:p>
                  </a:txBody>
                  <a:tcPr marL="64008" marR="45720" marT="22860" marB="18288" anchor="ctr">
                    <a:solidFill>
                      <a:srgbClr val="FFFFFF"/>
                    </a:solidFill>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sp>
        <p:nvSpPr>
          <p:cNvPr id="7" name="TextBox 6"/>
          <p:cNvSpPr txBox="1"/>
          <p:nvPr/>
        </p:nvSpPr>
        <p:spPr>
          <a:xfrm>
            <a:off x="777240" y="4069080"/>
            <a:ext cx="10698480" cy="411480"/>
          </a:xfrm>
          <a:prstGeom prst="rect">
            <a:avLst/>
          </a:prstGeom>
          <a:noFill/>
        </p:spPr>
        <p:txBody>
          <a:bodyPr wrap="square" lIns="18288" rIns="18288" tIns="9144" bIns="9144">
            <a:spAutoFit/>
          </a:bodyPr>
          <a:lstStyle/>
          <a:p>
            <a:pPr>
              <a:defRPr sz="1600" b="0">
                <a:solidFill>
                  <a:srgbClr val="000000"/>
                </a:solidFill>
                <a:latin typeface="Arial"/>
              </a:defRPr>
            </a:pPr>
            <a:r>
              <a:t>Four images · source replay exact · strength 1 exact no-op · one-cell spatial padding</a:t>
            </a:r>
          </a:p>
        </p:txBody>
      </p:sp>
      <p:sp>
        <p:nvSpPr>
          <p:cNvPr id="8" name="TextBox 7"/>
          <p:cNvSpPr txBox="1"/>
          <p:nvPr/>
        </p:nvSpPr>
        <p:spPr>
          <a:xfrm>
            <a:off x="777240" y="4663440"/>
            <a:ext cx="10652760" cy="713232"/>
          </a:xfrm>
          <a:prstGeom prst="rect">
            <a:avLst/>
          </a:prstGeom>
          <a:noFill/>
        </p:spPr>
        <p:txBody>
          <a:bodyPr wrap="square" lIns="18288" rIns="18288" tIns="9144" bIns="9144">
            <a:spAutoFit/>
          </a:bodyPr>
          <a:lstStyle/>
          <a:p>
            <a:pPr>
              <a:defRPr sz="1800" b="0">
                <a:solidFill>
                  <a:srgbClr val="000000"/>
                </a:solidFill>
                <a:latin typeface="Arial"/>
              </a:defRPr>
            </a:pPr>
            <a:r>
              <a:t>Interpretation: box masking reduced the spatial footprint, but did not make feature 4858 an earring-removal control.</a:t>
            </a:r>
          </a:p>
        </p:txBody>
      </p:sp>
      <p:sp>
        <p:nvSpPr>
          <p:cNvPr id="9" name="TextBox 8"/>
          <p:cNvSpPr txBox="1"/>
          <p:nvPr/>
        </p:nvSpPr>
        <p:spPr>
          <a:xfrm>
            <a:off x="777240" y="5623560"/>
            <a:ext cx="10652760" cy="502920"/>
          </a:xfrm>
          <a:prstGeom prst="rect">
            <a:avLst/>
          </a:prstGeom>
          <a:noFill/>
        </p:spPr>
        <p:txBody>
          <a:bodyPr wrap="square" lIns="18288" rIns="18288" tIns="9144" bIns="9144">
            <a:spAutoFit/>
          </a:bodyPr>
          <a:lstStyle/>
          <a:p>
            <a:pPr>
              <a:defRPr sz="1500" b="0">
                <a:solidFill>
                  <a:srgbClr val="000000"/>
                </a:solidFill>
                <a:latin typeface="Arial"/>
              </a:defRPr>
            </a:pPr>
            <a:r>
              <a:t>The random feature was inactive in some boxes, so improve the control by matching on in-box activation and perturbation magnitude.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1018520" cy="530352"/>
          </a:xfrm>
          <a:prstGeom prst="rect">
            <a:avLst/>
          </a:prstGeom>
          <a:noFill/>
        </p:spPr>
        <p:txBody>
          <a:bodyPr wrap="square" lIns="18288" rIns="18288" tIns="9144" bIns="9144">
            <a:spAutoFit/>
          </a:bodyPr>
          <a:lstStyle/>
          <a:p>
            <a:pPr>
              <a:defRPr sz="2600" b="1">
                <a:solidFill>
                  <a:srgbClr val="000000"/>
                </a:solidFill>
                <a:latin typeface="Arial"/>
              </a:defRPr>
            </a:pPr>
            <a:r>
              <a:t>Why reliability is still low</a:t>
            </a:r>
          </a:p>
        </p:txBody>
      </p:sp>
      <p:sp>
        <p:nvSpPr>
          <p:cNvPr id="3" name="TextBox 2"/>
          <p:cNvSpPr txBox="1"/>
          <p:nvPr/>
        </p:nvSpPr>
        <p:spPr>
          <a:xfrm>
            <a:off x="621792" y="932688"/>
            <a:ext cx="10927080" cy="384048"/>
          </a:xfrm>
          <a:prstGeom prst="rect">
            <a:avLst/>
          </a:prstGeom>
          <a:noFill/>
        </p:spPr>
        <p:txBody>
          <a:bodyPr wrap="square" lIns="18288" rIns="18288" tIns="9144" bIns="9144">
            <a:spAutoFit/>
          </a:bodyPr>
          <a:lstStyle/>
          <a:p>
            <a:pPr>
              <a:defRPr sz="1300" b="0">
                <a:solidFill>
                  <a:srgbClr val="000000"/>
                </a:solidFill>
                <a:latin typeface="Arial"/>
              </a:defRPr>
            </a:pPr>
            <a:r>
              <a:t>The bottleneck is target-feature validity and outcome measurement, not replay fidelity.</a:t>
            </a:r>
          </a:p>
        </p:txBody>
      </p:sp>
      <p:sp>
        <p:nvSpPr>
          <p:cNvPr id="4" name="Rectangle 3"/>
          <p:cNvSpPr/>
          <p:nvPr/>
        </p:nvSpPr>
        <p:spPr>
          <a:xfrm>
            <a:off x="621792" y="1399032"/>
            <a:ext cx="10927080" cy="109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09960" y="6510528"/>
            <a:ext cx="411480" cy="182880"/>
          </a:xfrm>
          <a:prstGeom prst="rect">
            <a:avLst/>
          </a:prstGeom>
          <a:noFill/>
        </p:spPr>
        <p:txBody>
          <a:bodyPr wrap="square" lIns="18288" rIns="18288" tIns="9144" bIns="9144">
            <a:spAutoFit/>
          </a:bodyPr>
          <a:lstStyle/>
          <a:p>
            <a:pPr algn="r">
              <a:defRPr sz="900" b="0">
                <a:solidFill>
                  <a:srgbClr val="000000"/>
                </a:solidFill>
                <a:latin typeface="Arial"/>
              </a:defRPr>
            </a:pPr>
            <a:r>
              <a:t>05</a:t>
            </a:r>
          </a:p>
        </p:txBody>
      </p:sp>
      <p:sp>
        <p:nvSpPr>
          <p:cNvPr id="6" name="TextBox 5"/>
          <p:cNvSpPr txBox="1"/>
          <p:nvPr/>
        </p:nvSpPr>
        <p:spPr>
          <a:xfrm>
            <a:off x="822960" y="1783080"/>
            <a:ext cx="10424160" cy="640080"/>
          </a:xfrm>
          <a:prstGeom prst="rect">
            <a:avLst/>
          </a:prstGeom>
          <a:noFill/>
        </p:spPr>
        <p:txBody>
          <a:bodyPr wrap="square" lIns="18288" rIns="18288" tIns="9144" bIns="9144">
            <a:spAutoFit/>
          </a:bodyPr>
          <a:lstStyle/>
          <a:p>
            <a:pPr>
              <a:defRPr sz="1800" b="0">
                <a:solidFill>
                  <a:srgbClr val="000000"/>
                </a:solidFill>
                <a:latin typeface="Arial"/>
              </a:defRPr>
            </a:pPr>
            <a:r>
              <a:t>1. Weak feature validity: held-out AUC was 0.228 for headscarf and 0.407 for earrings.</a:t>
            </a:r>
          </a:p>
        </p:txBody>
      </p:sp>
      <p:sp>
        <p:nvSpPr>
          <p:cNvPr id="7" name="TextBox 6"/>
          <p:cNvSpPr txBox="1"/>
          <p:nvPr/>
        </p:nvSpPr>
        <p:spPr>
          <a:xfrm>
            <a:off x="822960" y="2651760"/>
            <a:ext cx="10424160" cy="640080"/>
          </a:xfrm>
          <a:prstGeom prst="rect">
            <a:avLst/>
          </a:prstGeom>
          <a:noFill/>
        </p:spPr>
        <p:txBody>
          <a:bodyPr wrap="square" lIns="18288" rIns="18288" tIns="9144" bIns="9144">
            <a:spAutoFit/>
          </a:bodyPr>
          <a:lstStyle/>
          <a:p>
            <a:pPr>
              <a:defRPr sz="1800" b="0">
                <a:solidFill>
                  <a:srgbClr val="000000"/>
                </a:solidFill>
                <a:latin typeface="Arial"/>
              </a:defRPr>
            </a:pPr>
            <a:r>
              <a:t>2. Indirect outcome: image MAE measures change, not whether the earring is still present.</a:t>
            </a:r>
          </a:p>
        </p:txBody>
      </p:sp>
      <p:sp>
        <p:nvSpPr>
          <p:cNvPr id="8" name="TextBox 7"/>
          <p:cNvSpPr txBox="1"/>
          <p:nvPr/>
        </p:nvSpPr>
        <p:spPr>
          <a:xfrm>
            <a:off x="822960" y="3520440"/>
            <a:ext cx="10424160" cy="640080"/>
          </a:xfrm>
          <a:prstGeom prst="rect">
            <a:avLst/>
          </a:prstGeom>
          <a:noFill/>
        </p:spPr>
        <p:txBody>
          <a:bodyPr wrap="square" lIns="18288" rIns="18288" tIns="9144" bIns="9144">
            <a:spAutoFit/>
          </a:bodyPr>
          <a:lstStyle/>
          <a:p>
            <a:pPr>
              <a:defRPr sz="1800" b="0">
                <a:solidFill>
                  <a:srgbClr val="000000"/>
                </a:solidFill>
                <a:latin typeface="Arial"/>
              </a:defRPr>
            </a:pPr>
            <a:r>
              <a:t>3. Limited review: 16 initial images; 4 box-masked images; labels and boxes need human checks.</a:t>
            </a:r>
          </a:p>
        </p:txBody>
      </p:sp>
      <p:sp>
        <p:nvSpPr>
          <p:cNvPr id="9" name="TextBox 8"/>
          <p:cNvSpPr txBox="1"/>
          <p:nvPr/>
        </p:nvSpPr>
        <p:spPr>
          <a:xfrm>
            <a:off x="822960" y="4389120"/>
            <a:ext cx="10424160" cy="640080"/>
          </a:xfrm>
          <a:prstGeom prst="rect">
            <a:avLst/>
          </a:prstGeom>
          <a:noFill/>
        </p:spPr>
        <p:txBody>
          <a:bodyPr wrap="square" lIns="18288" rIns="18288" tIns="9144" bIns="9144">
            <a:spAutoFit/>
          </a:bodyPr>
          <a:lstStyle/>
          <a:p>
            <a:pPr>
              <a:defRPr sz="1800" b="0">
                <a:solidFill>
                  <a:srgbClr val="000000"/>
                </a:solidFill>
                <a:latin typeface="Arial"/>
              </a:defRPr>
            </a:pPr>
            <a:r>
              <a:t>4. Weak local control comparison: random feature 2940 is inactive in some intervention boxes.</a:t>
            </a:r>
          </a:p>
        </p:txBody>
      </p:sp>
      <p:sp>
        <p:nvSpPr>
          <p:cNvPr id="10" name="TextBox 9"/>
          <p:cNvSpPr txBox="1"/>
          <p:nvPr/>
        </p:nvSpPr>
        <p:spPr>
          <a:xfrm>
            <a:off x="822960" y="5532120"/>
            <a:ext cx="10424160" cy="548640"/>
          </a:xfrm>
          <a:prstGeom prst="rect">
            <a:avLst/>
          </a:prstGeom>
          <a:noFill/>
        </p:spPr>
        <p:txBody>
          <a:bodyPr wrap="square" lIns="18288" rIns="18288" tIns="9144" bIns="9144">
            <a:spAutoFit/>
          </a:bodyPr>
          <a:lstStyle/>
          <a:p>
            <a:pPr>
              <a:defRPr sz="1900" b="1">
                <a:solidFill>
                  <a:srgbClr val="000000"/>
                </a:solidFill>
                <a:latin typeface="Arial"/>
              </a:defRPr>
            </a:pPr>
            <a:r>
              <a:t>A spatial mask narrows where the edit is applied; it cannot repair poor feature-to-concept alignment.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1018520" cy="530352"/>
          </a:xfrm>
          <a:prstGeom prst="rect">
            <a:avLst/>
          </a:prstGeom>
          <a:noFill/>
        </p:spPr>
        <p:txBody>
          <a:bodyPr wrap="square" lIns="18288" rIns="18288" tIns="9144" bIns="9144">
            <a:spAutoFit/>
          </a:bodyPr>
          <a:lstStyle/>
          <a:p>
            <a:pPr>
              <a:defRPr sz="2600" b="1">
                <a:solidFill>
                  <a:srgbClr val="000000"/>
                </a:solidFill>
                <a:latin typeface="Arial"/>
              </a:defRPr>
            </a:pPr>
            <a:r>
              <a:t>How to make the next test more reliable</a:t>
            </a:r>
          </a:p>
        </p:txBody>
      </p:sp>
      <p:sp>
        <p:nvSpPr>
          <p:cNvPr id="3" name="TextBox 2"/>
          <p:cNvSpPr txBox="1"/>
          <p:nvPr/>
        </p:nvSpPr>
        <p:spPr>
          <a:xfrm>
            <a:off x="621792" y="932688"/>
            <a:ext cx="10927080" cy="384048"/>
          </a:xfrm>
          <a:prstGeom prst="rect">
            <a:avLst/>
          </a:prstGeom>
          <a:noFill/>
        </p:spPr>
        <p:txBody>
          <a:bodyPr wrap="square" lIns="18288" rIns="18288" tIns="9144" bIns="9144">
            <a:spAutoFit/>
          </a:bodyPr>
          <a:lstStyle/>
          <a:p>
            <a:pPr>
              <a:defRPr sz="1300" b="0">
                <a:solidFill>
                  <a:srgbClr val="000000"/>
                </a:solidFill>
                <a:latin typeface="Arial"/>
              </a:defRPr>
            </a:pPr>
            <a:r>
              <a:t>Separate feature validation, controlled editing, and object-removal measurement.</a:t>
            </a:r>
          </a:p>
        </p:txBody>
      </p:sp>
      <p:sp>
        <p:nvSpPr>
          <p:cNvPr id="4" name="Rectangle 3"/>
          <p:cNvSpPr/>
          <p:nvPr/>
        </p:nvSpPr>
        <p:spPr>
          <a:xfrm>
            <a:off x="621792" y="1399032"/>
            <a:ext cx="10927080" cy="109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09960" y="6510528"/>
            <a:ext cx="411480" cy="182880"/>
          </a:xfrm>
          <a:prstGeom prst="rect">
            <a:avLst/>
          </a:prstGeom>
          <a:noFill/>
        </p:spPr>
        <p:txBody>
          <a:bodyPr wrap="square" lIns="18288" rIns="18288" tIns="9144" bIns="9144">
            <a:spAutoFit/>
          </a:bodyPr>
          <a:lstStyle/>
          <a:p>
            <a:pPr algn="r">
              <a:defRPr sz="900" b="0">
                <a:solidFill>
                  <a:srgbClr val="000000"/>
                </a:solidFill>
                <a:latin typeface="Arial"/>
              </a:defRPr>
            </a:pPr>
            <a:r>
              <a:t>06</a:t>
            </a:r>
          </a:p>
        </p:txBody>
      </p:sp>
      <p:sp>
        <p:nvSpPr>
          <p:cNvPr id="6" name="TextBox 5"/>
          <p:cNvSpPr txBox="1"/>
          <p:nvPr/>
        </p:nvSpPr>
        <p:spPr>
          <a:xfrm>
            <a:off x="749808" y="1737360"/>
            <a:ext cx="10789920" cy="658368"/>
          </a:xfrm>
          <a:prstGeom prst="rect">
            <a:avLst/>
          </a:prstGeom>
          <a:noFill/>
        </p:spPr>
        <p:txBody>
          <a:bodyPr wrap="square" lIns="18288" rIns="18288" tIns="9144" bIns="9144">
            <a:spAutoFit/>
          </a:bodyPr>
          <a:lstStyle/>
          <a:p>
            <a:pPr>
              <a:defRPr sz="1700" b="0">
                <a:solidFill>
                  <a:srgbClr val="000000"/>
                </a:solidFill>
                <a:latin typeface="Arial"/>
              </a:defRPr>
            </a:pPr>
            <a:r>
              <a:t>1 · Validate the feature on a human-checked, held-out earring set; report in-box precision/recall or AUC.</a:t>
            </a:r>
          </a:p>
        </p:txBody>
      </p:sp>
      <p:sp>
        <p:nvSpPr>
          <p:cNvPr id="7" name="TextBox 6"/>
          <p:cNvSpPr txBox="1"/>
          <p:nvPr/>
        </p:nvSpPr>
        <p:spPr>
          <a:xfrm>
            <a:off x="749808" y="2560320"/>
            <a:ext cx="10789920" cy="594360"/>
          </a:xfrm>
          <a:prstGeom prst="rect">
            <a:avLst/>
          </a:prstGeom>
          <a:noFill/>
        </p:spPr>
        <p:txBody>
          <a:bodyPr wrap="square" lIns="18288" rIns="18288" tIns="9144" bIns="9144">
            <a:spAutoFit/>
          </a:bodyPr>
          <a:lstStyle/>
          <a:p>
            <a:pPr>
              <a:defRPr sz="1700" b="0">
                <a:solidFill>
                  <a:srgbClr val="000000"/>
                </a:solidFill>
                <a:latin typeface="Arial"/>
              </a:defRPr>
            </a:pPr>
            <a:r>
              <a:t>2 · Use more seeds and prompt groups; manually verify boxes and positive/negative labels.</a:t>
            </a:r>
          </a:p>
        </p:txBody>
      </p:sp>
      <p:sp>
        <p:nvSpPr>
          <p:cNvPr id="8" name="TextBox 7"/>
          <p:cNvSpPr txBox="1"/>
          <p:nvPr/>
        </p:nvSpPr>
        <p:spPr>
          <a:xfrm>
            <a:off x="749808" y="3337560"/>
            <a:ext cx="10789920" cy="658368"/>
          </a:xfrm>
          <a:prstGeom prst="rect">
            <a:avLst/>
          </a:prstGeom>
          <a:noFill/>
        </p:spPr>
        <p:txBody>
          <a:bodyPr wrap="square" lIns="18288" rIns="18288" tIns="9144" bIns="9144">
            <a:spAutoFit/>
          </a:bodyPr>
          <a:lstStyle/>
          <a:p>
            <a:pPr>
              <a:defRPr sz="1700" b="0">
                <a:solidFill>
                  <a:srgbClr val="000000"/>
                </a:solidFill>
                <a:latin typeface="Arial"/>
              </a:defRPr>
            </a:pPr>
            <a:r>
              <a:t>3 · Match random controls on local activation and perturbation size; tune edit strength only on development data.</a:t>
            </a:r>
          </a:p>
        </p:txBody>
      </p:sp>
      <p:sp>
        <p:nvSpPr>
          <p:cNvPr id="9" name="TextBox 8"/>
          <p:cNvSpPr txBox="1"/>
          <p:nvPr/>
        </p:nvSpPr>
        <p:spPr>
          <a:xfrm>
            <a:off x="749808" y="4160520"/>
            <a:ext cx="10789920" cy="594360"/>
          </a:xfrm>
          <a:prstGeom prst="rect">
            <a:avLst/>
          </a:prstGeom>
          <a:noFill/>
        </p:spPr>
        <p:txBody>
          <a:bodyPr wrap="square" lIns="18288" rIns="18288" tIns="9144" bIns="9144">
            <a:spAutoFit/>
          </a:bodyPr>
          <a:lstStyle/>
          <a:p>
            <a:pPr>
              <a:defRPr sz="1700" b="0">
                <a:solidFill>
                  <a:srgbClr val="000000"/>
                </a:solidFill>
                <a:latin typeface="Arial"/>
              </a:defRPr>
            </a:pPr>
            <a:r>
              <a:t>4 · Score earring presence directly with blinded human review or an independently checked detector.</a:t>
            </a:r>
          </a:p>
        </p:txBody>
      </p:sp>
      <p:sp>
        <p:nvSpPr>
          <p:cNvPr id="10" name="TextBox 9"/>
          <p:cNvSpPr txBox="1"/>
          <p:nvPr/>
        </p:nvSpPr>
        <p:spPr>
          <a:xfrm>
            <a:off x="749808" y="4937760"/>
            <a:ext cx="10789920" cy="594360"/>
          </a:xfrm>
          <a:prstGeom prst="rect">
            <a:avLst/>
          </a:prstGeom>
          <a:noFill/>
        </p:spPr>
        <p:txBody>
          <a:bodyPr wrap="square" lIns="18288" rIns="18288" tIns="9144" bIns="9144">
            <a:spAutoFit/>
          </a:bodyPr>
          <a:lstStyle/>
          <a:p>
            <a:pPr>
              <a:defRPr sz="1700" b="0">
                <a:solidFill>
                  <a:srgbClr val="000000"/>
                </a:solidFill>
                <a:latin typeface="Arial"/>
              </a:defRPr>
            </a:pPr>
            <a:r>
              <a:t>5 · Track collateral change outside the box and image quality; publish per-image results and uncertainty.</a:t>
            </a:r>
          </a:p>
        </p:txBody>
      </p:sp>
      <p:sp>
        <p:nvSpPr>
          <p:cNvPr id="11" name="TextBox 10"/>
          <p:cNvSpPr txBox="1"/>
          <p:nvPr/>
        </p:nvSpPr>
        <p:spPr>
          <a:xfrm>
            <a:off x="749808" y="5715000"/>
            <a:ext cx="10789920" cy="502920"/>
          </a:xfrm>
          <a:prstGeom prst="rect">
            <a:avLst/>
          </a:prstGeom>
          <a:noFill/>
        </p:spPr>
        <p:txBody>
          <a:bodyPr wrap="square" lIns="18288" rIns="18288" tIns="9144" bIns="9144">
            <a:spAutoFit/>
          </a:bodyPr>
          <a:lstStyle/>
          <a:p>
            <a:pPr>
              <a:defRPr sz="1700" b="1">
                <a:solidFill>
                  <a:srgbClr val="000000"/>
                </a:solidFill>
                <a:latin typeface="Arial"/>
              </a:defRPr>
            </a:pPr>
            <a:r>
              <a:t>Success criterion: target presence drops consistently across held-out seeds while unrelated regions remain stable.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1018520" cy="530352"/>
          </a:xfrm>
          <a:prstGeom prst="rect">
            <a:avLst/>
          </a:prstGeom>
          <a:noFill/>
        </p:spPr>
        <p:txBody>
          <a:bodyPr wrap="square" lIns="18288" rIns="18288" tIns="9144" bIns="9144">
            <a:spAutoFit/>
          </a:bodyPr>
          <a:lstStyle/>
          <a:p>
            <a:pPr>
              <a:defRPr sz="2600" b="1">
                <a:solidFill>
                  <a:srgbClr val="000000"/>
                </a:solidFill>
                <a:latin typeface="Arial"/>
              </a:defRPr>
            </a:pPr>
            <a:r>
              <a:t>Reproducibility and files</a:t>
            </a:r>
          </a:p>
        </p:txBody>
      </p:sp>
      <p:sp>
        <p:nvSpPr>
          <p:cNvPr id="3" name="TextBox 2"/>
          <p:cNvSpPr txBox="1"/>
          <p:nvPr/>
        </p:nvSpPr>
        <p:spPr>
          <a:xfrm>
            <a:off x="621792" y="932688"/>
            <a:ext cx="10927080" cy="384048"/>
          </a:xfrm>
          <a:prstGeom prst="rect">
            <a:avLst/>
          </a:prstGeom>
          <a:noFill/>
        </p:spPr>
        <p:txBody>
          <a:bodyPr wrap="square" lIns="18288" rIns="18288" tIns="9144" bIns="9144">
            <a:spAutoFit/>
          </a:bodyPr>
          <a:lstStyle/>
          <a:p>
            <a:pPr>
              <a:defRPr sz="1300" b="0">
                <a:solidFill>
                  <a:srgbClr val="000000"/>
                </a:solidFill>
                <a:latin typeface="Arial"/>
              </a:defRPr>
            </a:pPr>
            <a:r>
              <a:t>The saved reports contain the grids, per-image outputs, and measurements.</a:t>
            </a:r>
          </a:p>
        </p:txBody>
      </p:sp>
      <p:sp>
        <p:nvSpPr>
          <p:cNvPr id="4" name="Rectangle 3"/>
          <p:cNvSpPr/>
          <p:nvPr/>
        </p:nvSpPr>
        <p:spPr>
          <a:xfrm>
            <a:off x="621792" y="1399032"/>
            <a:ext cx="10927080" cy="109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09960" y="6510528"/>
            <a:ext cx="411480" cy="182880"/>
          </a:xfrm>
          <a:prstGeom prst="rect">
            <a:avLst/>
          </a:prstGeom>
          <a:noFill/>
        </p:spPr>
        <p:txBody>
          <a:bodyPr wrap="square" lIns="18288" rIns="18288" tIns="9144" bIns="9144">
            <a:spAutoFit/>
          </a:bodyPr>
          <a:lstStyle/>
          <a:p>
            <a:pPr algn="r">
              <a:defRPr sz="900" b="0">
                <a:solidFill>
                  <a:srgbClr val="000000"/>
                </a:solidFill>
                <a:latin typeface="Arial"/>
              </a:defRPr>
            </a:pPr>
            <a:r>
              <a:t>07</a:t>
            </a:r>
          </a:p>
        </p:txBody>
      </p:sp>
      <p:sp>
        <p:nvSpPr>
          <p:cNvPr id="6" name="TextBox 5"/>
          <p:cNvSpPr txBox="1"/>
          <p:nvPr/>
        </p:nvSpPr>
        <p:spPr>
          <a:xfrm>
            <a:off x="822960" y="1874519"/>
            <a:ext cx="10424160" cy="438912"/>
          </a:xfrm>
          <a:prstGeom prst="rect">
            <a:avLst/>
          </a:prstGeom>
          <a:noFill/>
        </p:spPr>
        <p:txBody>
          <a:bodyPr wrap="square" lIns="18288" rIns="18288" tIns="9144" bIns="9144">
            <a:spAutoFit/>
          </a:bodyPr>
          <a:lstStyle/>
          <a:p>
            <a:pPr>
              <a:defRPr sz="1800" b="0">
                <a:solidFill>
                  <a:srgbClr val="000000"/>
                </a:solidFill>
                <a:latin typeface="Arial"/>
              </a:defRPr>
            </a:pPr>
            <a:r>
              <a:t>Initial ablation report: tuning/accessory_ablation/REPORT.md</a:t>
            </a:r>
          </a:p>
        </p:txBody>
      </p:sp>
      <p:sp>
        <p:nvSpPr>
          <p:cNvPr id="7" name="TextBox 6"/>
          <p:cNvSpPr txBox="1"/>
          <p:nvPr/>
        </p:nvSpPr>
        <p:spPr>
          <a:xfrm>
            <a:off x="822960" y="2514600"/>
            <a:ext cx="10424160" cy="438912"/>
          </a:xfrm>
          <a:prstGeom prst="rect">
            <a:avLst/>
          </a:prstGeom>
          <a:noFill/>
        </p:spPr>
        <p:txBody>
          <a:bodyPr wrap="square" lIns="18288" rIns="18288" tIns="9144" bIns="9144">
            <a:spAutoFit/>
          </a:bodyPr>
          <a:lstStyle/>
          <a:p>
            <a:pPr>
              <a:defRPr sz="1800" b="0">
                <a:solidFill>
                  <a:srgbClr val="000000"/>
                </a:solidFill>
                <a:latin typeface="Arial"/>
              </a:defRPr>
            </a:pPr>
            <a:r>
              <a:t>Initial experiment script: tuning/accessory_ablation.py</a:t>
            </a:r>
          </a:p>
        </p:txBody>
      </p:sp>
      <p:sp>
        <p:nvSpPr>
          <p:cNvPr id="8" name="TextBox 7"/>
          <p:cNvSpPr txBox="1"/>
          <p:nvPr/>
        </p:nvSpPr>
        <p:spPr>
          <a:xfrm>
            <a:off x="822960" y="3154680"/>
            <a:ext cx="10424160" cy="438912"/>
          </a:xfrm>
          <a:prstGeom prst="rect">
            <a:avLst/>
          </a:prstGeom>
          <a:noFill/>
        </p:spPr>
        <p:txBody>
          <a:bodyPr wrap="square" lIns="18288" rIns="18288" tIns="9144" bIns="9144">
            <a:spAutoFit/>
          </a:bodyPr>
          <a:lstStyle/>
          <a:p>
            <a:pPr>
              <a:defRPr sz="1800" b="0">
                <a:solidFill>
                  <a:srgbClr val="000000"/>
                </a:solidFill>
                <a:latin typeface="Arial"/>
              </a:defRPr>
            </a:pPr>
            <a:r>
              <a:t>Box-masked follow-up report: tuning/box_masked_earring/REPORT.md</a:t>
            </a:r>
          </a:p>
        </p:txBody>
      </p:sp>
      <p:sp>
        <p:nvSpPr>
          <p:cNvPr id="9" name="TextBox 8"/>
          <p:cNvSpPr txBox="1"/>
          <p:nvPr/>
        </p:nvSpPr>
        <p:spPr>
          <a:xfrm>
            <a:off x="822960" y="3794760"/>
            <a:ext cx="10424160" cy="438912"/>
          </a:xfrm>
          <a:prstGeom prst="rect">
            <a:avLst/>
          </a:prstGeom>
          <a:noFill/>
        </p:spPr>
        <p:txBody>
          <a:bodyPr wrap="square" lIns="18288" rIns="18288" tIns="9144" bIns="9144">
            <a:spAutoFit/>
          </a:bodyPr>
          <a:lstStyle/>
          <a:p>
            <a:pPr>
              <a:defRPr sz="1800" b="0">
                <a:solidFill>
                  <a:srgbClr val="000000"/>
                </a:solidFill>
                <a:latin typeface="Arial"/>
              </a:defRPr>
            </a:pPr>
            <a:r>
              <a:t>Box-masked follow-up script: tuning/box_masked_earring.py</a:t>
            </a:r>
          </a:p>
        </p:txBody>
      </p:sp>
      <p:sp>
        <p:nvSpPr>
          <p:cNvPr id="10" name="TextBox 9"/>
          <p:cNvSpPr txBox="1"/>
          <p:nvPr/>
        </p:nvSpPr>
        <p:spPr>
          <a:xfrm>
            <a:off x="822960" y="4434840"/>
            <a:ext cx="10607040" cy="658368"/>
          </a:xfrm>
          <a:prstGeom prst="rect">
            <a:avLst/>
          </a:prstGeom>
          <a:noFill/>
        </p:spPr>
        <p:txBody>
          <a:bodyPr wrap="square" lIns="18288" rIns="18288" tIns="9144" bIns="9144">
            <a:spAutoFit/>
          </a:bodyPr>
          <a:lstStyle/>
          <a:p>
            <a:pPr>
              <a:defRPr sz="1800" b="0">
                <a:solidFill>
                  <a:srgbClr val="000000"/>
                </a:solidFill>
                <a:latin typeface="Arial"/>
              </a:defRPr>
            </a:pPr>
            <a:r>
              <a:t>Metrics: tuning/accessory_ablation/metrics.csv and tuning/box_masked_earring/metrics.csv</a:t>
            </a:r>
          </a:p>
        </p:txBody>
      </p:sp>
      <p:sp>
        <p:nvSpPr>
          <p:cNvPr id="11" name="TextBox 10"/>
          <p:cNvSpPr txBox="1"/>
          <p:nvPr/>
        </p:nvSpPr>
        <p:spPr>
          <a:xfrm>
            <a:off x="822960" y="5532120"/>
            <a:ext cx="10515600" cy="640080"/>
          </a:xfrm>
          <a:prstGeom prst="rect">
            <a:avLst/>
          </a:prstGeom>
          <a:noFill/>
        </p:spPr>
        <p:txBody>
          <a:bodyPr wrap="square" lIns="18288" rIns="18288" tIns="9144" bIns="9144">
            <a:spAutoFit/>
          </a:bodyPr>
          <a:lstStyle/>
          <a:p>
            <a:pPr>
              <a:defRPr sz="1900" b="1">
                <a:solidFill>
                  <a:srgbClr val="000000"/>
                </a:solidFill>
                <a:latin typeface="Arial"/>
              </a:defRPr>
            </a:pPr>
            <a:r>
              <a:t>Advisor summary: the intervention was technically reproducible and spatially localizable; reliable semantic removal was not demonstrated.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SAE Ablation Pilot: Why Earring and Headscarf Removal Was Not Reliable</dc:title>
  <dc:subject>Advisor briefing on the feature ablation and C2C box-masked follow-up</dc:subject>
  <dc:creator>Research experiment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